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256" r:id="rId3"/>
    <p:sldId id="257" r:id="rId4"/>
    <p:sldId id="258" r:id="rId5"/>
    <p:sldId id="259" r:id="rId6"/>
    <p:sldId id="260" r:id="rId8"/>
    <p:sldId id="261" r:id="rId9"/>
    <p:sldId id="262" r:id="rId10"/>
    <p:sldId id="263" r:id="rId11"/>
    <p:sldId id="264" r:id="rId12"/>
    <p:sldId id="267" r:id="rId13"/>
    <p:sldId id="268" r:id="rId14"/>
    <p:sldId id="276" r:id="rId15"/>
    <p:sldId id="275" r:id="rId16"/>
    <p:sldId id="266" r:id="rId17"/>
    <p:sldId id="265" r:id="rId18"/>
    <p:sldId id="271" r:id="rId19"/>
    <p:sldId id="272" r:id="rId20"/>
    <p:sldId id="274" r:id="rId21"/>
  </p:sldIdLst>
  <p:sldSz cx="12192000" cy="6858000"/>
  <p:notesSz cx="12192000" cy="6858000"/>
  <p:embeddedFontLst>
    <p:embeddedFont>
      <p:font typeface="Calibri" panose="020F0502020204030204"/>
      <p:regular r:id="rId25"/>
      <p:bold r:id="rId26"/>
      <p:italic r:id="rId27"/>
      <p:boldItalic r:id="rId28"/>
    </p:embeddedFont>
    <p:embeddedFont>
      <p:font typeface="VQFMMU+MicrosoftYaHei-Bold" panose="02000500000000000000"/>
      <p:regular r:id="rId29"/>
    </p:embeddedFont>
    <p:embeddedFont>
      <p:font typeface="TVOCAF+MicrosoftYaHei" panose="02000500000000000000"/>
      <p:regular r:id="rId30"/>
    </p:embeddedFont>
    <p:embeddedFont>
      <p:font typeface="PDDLES+ArialMT" panose="02000500000000000000"/>
      <p:regular r:id="rId31"/>
    </p:embeddedFont>
    <p:embeddedFont>
      <p:font typeface="NQUUDO+Wingdings-Regular" panose="02000500000000000000"/>
      <p:regular r:id="rId32"/>
    </p:embeddedFont>
    <p:embeddedFont>
      <p:font typeface="微软雅黑" panose="020B0503020204020204" charset="-122"/>
      <p:regular r:id="rId33"/>
    </p:embeddedFont>
    <p:embeddedFont>
      <p:font typeface="楷体" panose="02010609060101010101" charset="-122"/>
      <p:regular r:id="rId34"/>
    </p:embeddedFont>
  </p:embeddedFontLst>
  <p:custDataLst>
    <p:tags r:id="rId35"/>
  </p:custDataLst>
  <p:defaultTextStyle>
    <a:defPPr>
      <a:defRPr lang="ru-RU"/>
    </a:defPPr>
    <a:lvl1pPr marL="0" lvl="0"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Calibri" panose="020F0502020204030204"/>
      <a:buNone/>
      <a:defRPr b="0" i="0" u="none" kern="1200" baseline="0">
        <a:solidFill>
          <a:schemeClr val="tx1"/>
        </a:solidFill>
        <a:latin typeface="Calibri" panose="020F0502020204030204"/>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2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57" d="100"/>
          <a:sy n="57" d="100"/>
        </p:scale>
        <p:origin x="-102" y="-26"/>
      </p:cViewPr>
      <p:guideLst>
        <p:guide orient="horz" pos="2139"/>
        <p:guide pos="283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1.xml"/><Relationship Id="rId34" Type="http://schemas.openxmlformats.org/officeDocument/2006/relationships/font" Target="fonts/font10.fntdata"/><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5283200"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6905979" y="0"/>
            <a:ext cx="5283200" cy="344091"/>
          </a:xfrm>
          <a:prstGeom prst="rect">
            <a:avLst/>
          </a:prstGeom>
        </p:spPr>
        <p:txBody>
          <a:bodyPr vert="horz" lIns="91440" tIns="45720" rIns="91440" bIns="45720" rtlCol="0"/>
          <a:lstStyle>
            <a:lvl1pPr algn="r">
              <a:defRPr sz="1200"/>
            </a:lvl1pPr>
          </a:lstStyle>
          <a:p>
            <a:fld id="{23B6967E-542D-46BB-99C2-28920E914199}"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lvl="0"/>
            <a:r>
              <a:rPr lang="zh-TW" altLang="en-US" smtClean="0"/>
              <a:t>按一下以編輯母片文字樣式</a:t>
            </a:r>
            <a:endParaRPr lang="zh-TW" altLang="en-US" smtClean="0"/>
          </a:p>
          <a:p>
            <a:pPr lvl="1"/>
            <a:r>
              <a:rPr lang="zh-TW" altLang="en-US" smtClean="0"/>
              <a:t>第二層</a:t>
            </a:r>
            <a:endParaRPr lang="zh-TW" altLang="en-US" smtClean="0"/>
          </a:p>
          <a:p>
            <a:pPr lvl="2"/>
            <a:r>
              <a:rPr lang="zh-TW" altLang="en-US" smtClean="0"/>
              <a:t>第三層</a:t>
            </a:r>
            <a:endParaRPr lang="zh-TW" altLang="en-US" smtClean="0"/>
          </a:p>
          <a:p>
            <a:pPr lvl="3"/>
            <a:r>
              <a:rPr lang="zh-TW" altLang="en-US" smtClean="0"/>
              <a:t>第四層</a:t>
            </a:r>
            <a:endParaRPr lang="zh-TW" altLang="en-US" smtClean="0"/>
          </a:p>
          <a:p>
            <a:pPr lvl="4"/>
            <a:r>
              <a:rPr lang="zh-TW" altLang="en-US" smtClean="0"/>
              <a:t>第五層</a:t>
            </a:r>
            <a:endParaRPr lang="zh-TW" altLang="en-US"/>
          </a:p>
        </p:txBody>
      </p:sp>
      <p:sp>
        <p:nvSpPr>
          <p:cNvPr id="6" name="頁尾版面配置區 5"/>
          <p:cNvSpPr>
            <a:spLocks noGrp="1"/>
          </p:cNvSpPr>
          <p:nvPr>
            <p:ph type="ftr" sz="quarter" idx="4"/>
          </p:nvPr>
        </p:nvSpPr>
        <p:spPr>
          <a:xfrm>
            <a:off x="0" y="6513910"/>
            <a:ext cx="5283200" cy="34409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6905979" y="6513910"/>
            <a:ext cx="5283200" cy="344090"/>
          </a:xfrm>
          <a:prstGeom prst="rect">
            <a:avLst/>
          </a:prstGeom>
        </p:spPr>
        <p:txBody>
          <a:bodyPr vert="horz" lIns="91440" tIns="45720" rIns="91440" bIns="45720" rtlCol="0" anchor="b"/>
          <a:lstStyle>
            <a:lvl1pPr algn="r">
              <a:defRPr sz="1200"/>
            </a:lvl1pPr>
          </a:lstStyle>
          <a:p>
            <a:fld id="{30937628-B820-42EF-A241-CE9D2C9CD08B}"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燈片圖像佔位符 1"/>
          <p:cNvSpPr>
            <a:spLocks noGrp="1"/>
          </p:cNvSpPr>
          <p:nvPr>
            <p:ph type="sldImg" idx="2"/>
          </p:nvPr>
        </p:nvSpPr>
        <p:spPr/>
      </p:sp>
      <p:sp>
        <p:nvSpPr>
          <p:cNvPr id="3" name="文字佔位符 2"/>
          <p:cNvSpPr>
            <a:spLocks noGrp="1"/>
          </p:cNvSpPr>
          <p:nvPr>
            <p:ph type="body" idx="3"/>
          </p:nvPr>
        </p:nvSpPr>
        <p:spPr/>
        <p:txBody>
          <a:bodyPr/>
          <a:p>
            <a:endParaRPr lang="zh-HK"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燈片圖像佔位符 1"/>
          <p:cNvSpPr>
            <a:spLocks noGrp="1"/>
          </p:cNvSpPr>
          <p:nvPr>
            <p:ph type="sldImg" idx="2"/>
          </p:nvPr>
        </p:nvSpPr>
        <p:spPr/>
      </p:sp>
      <p:sp>
        <p:nvSpPr>
          <p:cNvPr id="3" name="文字佔位符 2"/>
          <p:cNvSpPr>
            <a:spLocks noGrp="1"/>
          </p:cNvSpPr>
          <p:nvPr>
            <p:ph type="body" idx="3"/>
          </p:nvPr>
        </p:nvSpPr>
        <p:spPr/>
        <p:txBody>
          <a:bodyPr/>
          <a:p>
            <a:endParaRPr lang="zh-HK"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燈片圖像佔位符 1"/>
          <p:cNvSpPr>
            <a:spLocks noGrp="1"/>
          </p:cNvSpPr>
          <p:nvPr>
            <p:ph type="sldImg" idx="2"/>
          </p:nvPr>
        </p:nvSpPr>
        <p:spPr/>
      </p:sp>
      <p:sp>
        <p:nvSpPr>
          <p:cNvPr id="3" name="文字佔位符 2"/>
          <p:cNvSpPr>
            <a:spLocks noGrp="1"/>
          </p:cNvSpPr>
          <p:nvPr>
            <p:ph type="body" idx="3"/>
          </p:nvPr>
        </p:nvSpPr>
        <p:spPr/>
        <p:txBody>
          <a:bodyPr/>
          <a:p>
            <a:endParaRPr lang="zh-HK"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燈片圖像佔位符 1"/>
          <p:cNvSpPr>
            <a:spLocks noGrp="1"/>
          </p:cNvSpPr>
          <p:nvPr>
            <p:ph type="sldImg" idx="2"/>
          </p:nvPr>
        </p:nvSpPr>
        <p:spPr/>
      </p:sp>
      <p:sp>
        <p:nvSpPr>
          <p:cNvPr id="3" name="文字佔位符 2"/>
          <p:cNvSpPr>
            <a:spLocks noGrp="1"/>
          </p:cNvSpPr>
          <p:nvPr>
            <p:ph type="body" idx="3"/>
          </p:nvPr>
        </p:nvSpPr>
        <p:spPr/>
        <p:txBody>
          <a:bodyPr/>
          <a:p>
            <a:endParaRPr lang="zh-HK"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pPr fontAlgn="auto"/>
            <a:r>
              <a:rPr lang="zh-TW" altLang="en-US" strike="noStrike" noProof="1" smtClean="0"/>
              <a:t>按一下以編輯母片標題樣式</a:t>
            </a:r>
            <a:endParaRPr lang="zh-TW" altLang="en-US" strike="noStrike" noProof="1"/>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TW" altLang="en-US" strike="noStrike" noProof="1" smtClean="0"/>
              <a:t>按一下以編輯母片副標題樣式</a:t>
            </a:r>
            <a:endParaRPr lang="zh-TW" altLang="en-US" strike="noStrike" noProof="1"/>
          </a:p>
        </p:txBody>
      </p:sp>
      <p:sp>
        <p:nvSpPr>
          <p:cNvPr id="4" name="頁腳佔位符 3"/>
          <p:cNvSpPr>
            <a:spLocks noGrp="1"/>
          </p:cNvSpPr>
          <p:nvPr>
            <p:ph type="ftr" sz="quarter" idx="10"/>
          </p:nvPr>
        </p:nvSpPr>
        <p:spPr/>
        <p:txBody>
          <a:bodyPr/>
          <a:p>
            <a:pPr lvl="0" fontAlgn="base"/>
          </a:p>
        </p:txBody>
      </p:sp>
      <p:sp>
        <p:nvSpPr>
          <p:cNvPr id="5" name="日期佔位符 4"/>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6" name="燈片編號佔位符 5"/>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fontAlgn="auto"/>
            <a:r>
              <a:rPr lang="zh-TW" altLang="en-US" strike="noStrike" noProof="1" smtClean="0"/>
              <a:t>按一下以編輯母片標題樣式</a:t>
            </a:r>
            <a:endParaRPr lang="zh-TW" altLang="en-US" strike="noStrike" noProof="1"/>
          </a:p>
        </p:txBody>
      </p:sp>
      <p:sp>
        <p:nvSpPr>
          <p:cNvPr id="3" name="內容版面配置區 2"/>
          <p:cNvSpPr>
            <a:spLocks noGrp="1"/>
          </p:cNvSpPr>
          <p:nvPr>
            <p:ph idx="1"/>
          </p:nvPr>
        </p:nvSpPr>
        <p:spPr/>
        <p:txBody>
          <a:body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4" name="頁腳佔位符 3"/>
          <p:cNvSpPr>
            <a:spLocks noGrp="1"/>
          </p:cNvSpPr>
          <p:nvPr>
            <p:ph type="ftr" sz="quarter" idx="10"/>
          </p:nvPr>
        </p:nvSpPr>
        <p:spPr/>
        <p:txBody>
          <a:bodyPr/>
          <a:p>
            <a:pPr lvl="0" fontAlgn="base"/>
          </a:p>
        </p:txBody>
      </p:sp>
      <p:sp>
        <p:nvSpPr>
          <p:cNvPr id="5" name="日期佔位符 4"/>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6" name="燈片編號佔位符 5"/>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pPr fontAlgn="auto"/>
            <a:r>
              <a:rPr lang="zh-TW" altLang="en-US" strike="noStrike" noProof="1" smtClean="0"/>
              <a:t>按一下以編輯母片標題樣式</a:t>
            </a:r>
            <a:endParaRPr lang="zh-TW" altLang="en-US" strike="noStrike" noProof="1"/>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TW" altLang="en-US" strike="noStrike" noProof="1" smtClean="0"/>
              <a:t>按一下以編輯母片文字樣式</a:t>
            </a:r>
            <a:endParaRPr lang="zh-TW" altLang="en-US" strike="noStrike" noProof="1" smtClean="0"/>
          </a:p>
        </p:txBody>
      </p:sp>
      <p:sp>
        <p:nvSpPr>
          <p:cNvPr id="4" name="頁腳佔位符 3"/>
          <p:cNvSpPr>
            <a:spLocks noGrp="1"/>
          </p:cNvSpPr>
          <p:nvPr>
            <p:ph type="ftr" sz="quarter" idx="10"/>
          </p:nvPr>
        </p:nvSpPr>
        <p:spPr/>
        <p:txBody>
          <a:bodyPr/>
          <a:p>
            <a:pPr lvl="0" fontAlgn="base"/>
          </a:p>
        </p:txBody>
      </p:sp>
      <p:sp>
        <p:nvSpPr>
          <p:cNvPr id="5" name="日期佔位符 4"/>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6" name="燈片編號佔位符 5"/>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fontAlgn="auto"/>
            <a:r>
              <a:rPr lang="zh-TW" altLang="en-US" strike="noStrike" noProof="1" smtClean="0"/>
              <a:t>按一下以編輯母片標題樣式</a:t>
            </a:r>
            <a:endParaRPr lang="zh-TW" altLang="en-US" strike="noStrike" noProof="1"/>
          </a:p>
        </p:txBody>
      </p:sp>
      <p:sp>
        <p:nvSpPr>
          <p:cNvPr id="3" name="內容版面配置區 2"/>
          <p:cNvSpPr>
            <a:spLocks noGrp="1"/>
          </p:cNvSpPr>
          <p:nvPr>
            <p:ph sz="half" idx="1"/>
          </p:nvPr>
        </p:nvSpPr>
        <p:spPr>
          <a:xfrm>
            <a:off x="377825" y="2459038"/>
            <a:ext cx="3330861" cy="7058025"/>
          </a:xfrm>
        </p:spPr>
        <p:txBody>
          <a:body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4" name="內容版面配置區 3"/>
          <p:cNvSpPr>
            <a:spLocks noGrp="1"/>
          </p:cNvSpPr>
          <p:nvPr>
            <p:ph sz="half" idx="2"/>
          </p:nvPr>
        </p:nvSpPr>
        <p:spPr>
          <a:xfrm>
            <a:off x="3844639" y="2459038"/>
            <a:ext cx="3330861" cy="7058025"/>
          </a:xfrm>
        </p:spPr>
        <p:txBody>
          <a:body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5" name="頁腳佔位符 4"/>
          <p:cNvSpPr>
            <a:spLocks noGrp="1"/>
          </p:cNvSpPr>
          <p:nvPr>
            <p:ph type="ftr" sz="quarter" idx="10"/>
          </p:nvPr>
        </p:nvSpPr>
        <p:spPr/>
        <p:txBody>
          <a:bodyPr/>
          <a:p>
            <a:pPr lvl="0" fontAlgn="base"/>
          </a:p>
        </p:txBody>
      </p:sp>
      <p:sp>
        <p:nvSpPr>
          <p:cNvPr id="6" name="日期佔位符 5"/>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7" name="燈片編號佔位符 6"/>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pPr fontAlgn="auto"/>
            <a:r>
              <a:rPr lang="zh-TW" altLang="en-US" strike="noStrike" noProof="1" smtClean="0"/>
              <a:t>按一下以編輯母片標題樣式</a:t>
            </a:r>
            <a:endParaRPr lang="zh-TW" altLang="en-US" strike="noStrike" noProof="1"/>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TW" altLang="en-US" strike="noStrike" noProof="1" smtClean="0"/>
              <a:t>按一下以編輯母片文字樣式</a:t>
            </a:r>
            <a:endParaRPr lang="zh-TW" altLang="en-US" strike="noStrike" noProof="1" smtClean="0"/>
          </a:p>
        </p:txBody>
      </p:sp>
      <p:sp>
        <p:nvSpPr>
          <p:cNvPr id="4" name="內容版面配置區 3"/>
          <p:cNvSpPr>
            <a:spLocks noGrp="1"/>
          </p:cNvSpPr>
          <p:nvPr>
            <p:ph sz="half" idx="2"/>
          </p:nvPr>
        </p:nvSpPr>
        <p:spPr>
          <a:xfrm>
            <a:off x="839788" y="2505075"/>
            <a:ext cx="5157787" cy="3684588"/>
          </a:xfrm>
        </p:spPr>
        <p:txBody>
          <a:body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TW" altLang="en-US" strike="noStrike" noProof="1" smtClean="0"/>
              <a:t>按一下以編輯母片文字樣式</a:t>
            </a:r>
            <a:endParaRPr lang="zh-TW" altLang="en-US" strike="noStrike" noProof="1" smtClean="0"/>
          </a:p>
        </p:txBody>
      </p:sp>
      <p:sp>
        <p:nvSpPr>
          <p:cNvPr id="6" name="內容版面配置區 5"/>
          <p:cNvSpPr>
            <a:spLocks noGrp="1"/>
          </p:cNvSpPr>
          <p:nvPr>
            <p:ph sz="quarter" idx="4"/>
          </p:nvPr>
        </p:nvSpPr>
        <p:spPr>
          <a:xfrm>
            <a:off x="6172200" y="2505075"/>
            <a:ext cx="5183188" cy="3684588"/>
          </a:xfrm>
        </p:spPr>
        <p:txBody>
          <a:body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7" name="頁腳佔位符 6"/>
          <p:cNvSpPr>
            <a:spLocks noGrp="1"/>
          </p:cNvSpPr>
          <p:nvPr>
            <p:ph type="ftr" sz="quarter" idx="10"/>
          </p:nvPr>
        </p:nvSpPr>
        <p:spPr/>
        <p:txBody>
          <a:bodyPr/>
          <a:p>
            <a:pPr lvl="0" fontAlgn="base"/>
          </a:p>
        </p:txBody>
      </p:sp>
      <p:sp>
        <p:nvSpPr>
          <p:cNvPr id="8" name="日期佔位符 7"/>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9" name="燈片編號佔位符 8"/>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fontAlgn="auto"/>
            <a:r>
              <a:rPr lang="zh-TW" altLang="en-US" strike="noStrike" noProof="1" smtClean="0"/>
              <a:t>按一下以編輯母片標題樣式</a:t>
            </a:r>
            <a:endParaRPr lang="zh-TW" altLang="en-US" strike="noStrike" noProof="1"/>
          </a:p>
        </p:txBody>
      </p:sp>
      <p:sp>
        <p:nvSpPr>
          <p:cNvPr id="3" name="頁腳佔位符 2"/>
          <p:cNvSpPr>
            <a:spLocks noGrp="1"/>
          </p:cNvSpPr>
          <p:nvPr>
            <p:ph type="ftr" sz="quarter" idx="10"/>
          </p:nvPr>
        </p:nvSpPr>
        <p:spPr/>
        <p:txBody>
          <a:bodyPr/>
          <a:p>
            <a:pPr lvl="0" fontAlgn="base"/>
          </a:p>
        </p:txBody>
      </p:sp>
      <p:sp>
        <p:nvSpPr>
          <p:cNvPr id="4" name="日期佔位符 3"/>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5" name="燈片編號佔位符 4"/>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頁腳佔位符 1"/>
          <p:cNvSpPr>
            <a:spLocks noGrp="1"/>
          </p:cNvSpPr>
          <p:nvPr>
            <p:ph type="ftr" sz="quarter" idx="10"/>
          </p:nvPr>
        </p:nvSpPr>
        <p:spPr/>
        <p:txBody>
          <a:bodyPr/>
          <a:p>
            <a:pPr lvl="0" fontAlgn="base"/>
          </a:p>
        </p:txBody>
      </p:sp>
      <p:sp>
        <p:nvSpPr>
          <p:cNvPr id="3" name="日期佔位符 2"/>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4" name="燈片編號佔位符 3"/>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pPr fontAlgn="auto"/>
            <a:r>
              <a:rPr lang="zh-TW" altLang="en-US" strike="noStrike" noProof="1" smtClean="0"/>
              <a:t>按一下以編輯母片標題樣式</a:t>
            </a:r>
            <a:endParaRPr lang="zh-TW" altLang="en-US" strike="noStrike" noProof="1"/>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TW" altLang="en-US" strike="noStrike" noProof="1" smtClean="0"/>
              <a:t>按一下以編輯母片文字樣式</a:t>
            </a:r>
            <a:endParaRPr lang="zh-TW" altLang="en-US" strike="noStrike" noProof="1" smtClean="0"/>
          </a:p>
        </p:txBody>
      </p:sp>
      <p:sp>
        <p:nvSpPr>
          <p:cNvPr id="5" name="頁腳佔位符 4"/>
          <p:cNvSpPr>
            <a:spLocks noGrp="1"/>
          </p:cNvSpPr>
          <p:nvPr>
            <p:ph type="ftr" sz="quarter" idx="10"/>
          </p:nvPr>
        </p:nvSpPr>
        <p:spPr/>
        <p:txBody>
          <a:bodyPr/>
          <a:p>
            <a:pPr lvl="0" fontAlgn="base"/>
          </a:p>
        </p:txBody>
      </p:sp>
      <p:sp>
        <p:nvSpPr>
          <p:cNvPr id="6" name="日期佔位符 5"/>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7" name="燈片編號佔位符 6"/>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pPr fontAlgn="auto"/>
            <a:r>
              <a:rPr lang="zh-TW" altLang="en-US" strike="noStrike" noProof="1" smtClean="0"/>
              <a:t>按一下以編輯母片標題樣式</a:t>
            </a:r>
            <a:endParaRPr lang="zh-TW" altLang="en-US" strike="noStrike" noProof="1"/>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TW" altLang="en-US" strike="noStrike" noProof="1"/>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TW" altLang="en-US" strike="noStrike" noProof="1" smtClean="0"/>
              <a:t>按一下以編輯母片文字樣式</a:t>
            </a:r>
            <a:endParaRPr lang="zh-TW" altLang="en-US" strike="noStrike" noProof="1" smtClean="0"/>
          </a:p>
        </p:txBody>
      </p:sp>
      <p:sp>
        <p:nvSpPr>
          <p:cNvPr id="5" name="頁腳佔位符 4"/>
          <p:cNvSpPr>
            <a:spLocks noGrp="1"/>
          </p:cNvSpPr>
          <p:nvPr>
            <p:ph type="ftr" sz="quarter" idx="10"/>
          </p:nvPr>
        </p:nvSpPr>
        <p:spPr/>
        <p:txBody>
          <a:bodyPr/>
          <a:p>
            <a:pPr lvl="0" fontAlgn="base"/>
          </a:p>
        </p:txBody>
      </p:sp>
      <p:sp>
        <p:nvSpPr>
          <p:cNvPr id="6" name="日期佔位符 5"/>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7" name="燈片編號佔位符 6"/>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fontAlgn="auto"/>
            <a:r>
              <a:rPr lang="zh-TW" altLang="en-US" strike="noStrike" noProof="1" smtClean="0"/>
              <a:t>按一下以編輯母片標題樣式</a:t>
            </a:r>
            <a:endParaRPr lang="zh-TW" altLang="en-US" strike="noStrike" noProof="1"/>
          </a:p>
        </p:txBody>
      </p:sp>
      <p:sp>
        <p:nvSpPr>
          <p:cNvPr id="3" name="直排文字版面配置區 2"/>
          <p:cNvSpPr>
            <a:spLocks noGrp="1"/>
          </p:cNvSpPr>
          <p:nvPr>
            <p:ph type="body" orient="vert" idx="1"/>
          </p:nvPr>
        </p:nvSpPr>
        <p:spPr/>
        <p:txBody>
          <a:bodyPr vert="eaVert"/>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4" name="頁腳佔位符 3"/>
          <p:cNvSpPr>
            <a:spLocks noGrp="1"/>
          </p:cNvSpPr>
          <p:nvPr>
            <p:ph type="ftr" sz="quarter" idx="10"/>
          </p:nvPr>
        </p:nvSpPr>
        <p:spPr/>
        <p:txBody>
          <a:bodyPr/>
          <a:p>
            <a:pPr lvl="0" fontAlgn="base"/>
          </a:p>
        </p:txBody>
      </p:sp>
      <p:sp>
        <p:nvSpPr>
          <p:cNvPr id="5" name="日期佔位符 4"/>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6" name="燈片編號佔位符 5"/>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5476081" y="427038"/>
            <a:ext cx="1699419" cy="9090025"/>
          </a:xfrm>
        </p:spPr>
        <p:txBody>
          <a:bodyPr vert="eaVert"/>
          <a:lstStyle/>
          <a:p>
            <a:pPr fontAlgn="auto"/>
            <a:r>
              <a:rPr lang="zh-TW" altLang="en-US" strike="noStrike" noProof="1" smtClean="0"/>
              <a:t>按一下以編輯母片標題樣式</a:t>
            </a:r>
            <a:endParaRPr lang="zh-TW" altLang="en-US" strike="noStrike" noProof="1"/>
          </a:p>
        </p:txBody>
      </p:sp>
      <p:sp>
        <p:nvSpPr>
          <p:cNvPr id="3" name="直排文字版面配置區 2"/>
          <p:cNvSpPr>
            <a:spLocks noGrp="1"/>
          </p:cNvSpPr>
          <p:nvPr>
            <p:ph type="body" orient="vert" idx="1"/>
          </p:nvPr>
        </p:nvSpPr>
        <p:spPr>
          <a:xfrm>
            <a:off x="377825" y="427038"/>
            <a:ext cx="4999739" cy="9090025"/>
          </a:xfrm>
        </p:spPr>
        <p:txBody>
          <a:bodyPr vert="eaVert"/>
          <a:lstStyle/>
          <a:p>
            <a:pPr lvl="0" fontAlgn="auto"/>
            <a:r>
              <a:rPr lang="zh-TW" altLang="en-US" strike="noStrike" noProof="1" smtClean="0"/>
              <a:t>按一下以編輯母片文字樣式</a:t>
            </a:r>
            <a:endParaRPr lang="zh-TW" altLang="en-US" strike="noStrike" noProof="1" smtClean="0"/>
          </a:p>
          <a:p>
            <a:pPr lvl="1" fontAlgn="auto"/>
            <a:r>
              <a:rPr lang="zh-TW" altLang="en-US" strike="noStrike" noProof="1" smtClean="0"/>
              <a:t>第二層</a:t>
            </a:r>
            <a:endParaRPr lang="zh-TW" altLang="en-US" strike="noStrike" noProof="1" smtClean="0"/>
          </a:p>
          <a:p>
            <a:pPr lvl="2" fontAlgn="auto"/>
            <a:r>
              <a:rPr lang="zh-TW" altLang="en-US" strike="noStrike" noProof="1" smtClean="0"/>
              <a:t>第三層</a:t>
            </a:r>
            <a:endParaRPr lang="zh-TW" altLang="en-US" strike="noStrike" noProof="1" smtClean="0"/>
          </a:p>
          <a:p>
            <a:pPr lvl="3" fontAlgn="auto"/>
            <a:r>
              <a:rPr lang="zh-TW" altLang="en-US" strike="noStrike" noProof="1" smtClean="0"/>
              <a:t>第四層</a:t>
            </a:r>
            <a:endParaRPr lang="zh-TW" altLang="en-US" strike="noStrike" noProof="1" smtClean="0"/>
          </a:p>
          <a:p>
            <a:pPr lvl="4" fontAlgn="auto"/>
            <a:r>
              <a:rPr lang="zh-TW" altLang="en-US" strike="noStrike" noProof="1" smtClean="0"/>
              <a:t>第五層</a:t>
            </a:r>
            <a:endParaRPr lang="zh-TW" altLang="en-US" strike="noStrike" noProof="1"/>
          </a:p>
        </p:txBody>
      </p:sp>
      <p:sp>
        <p:nvSpPr>
          <p:cNvPr id="4" name="頁腳佔位符 3"/>
          <p:cNvSpPr>
            <a:spLocks noGrp="1"/>
          </p:cNvSpPr>
          <p:nvPr>
            <p:ph type="ftr" sz="quarter" idx="10"/>
          </p:nvPr>
        </p:nvSpPr>
        <p:spPr/>
        <p:txBody>
          <a:bodyPr/>
          <a:p>
            <a:pPr lvl="0" fontAlgn="base"/>
          </a:p>
        </p:txBody>
      </p:sp>
      <p:sp>
        <p:nvSpPr>
          <p:cNvPr id="5" name="日期佔位符 4"/>
          <p:cNvSpPr>
            <a:spLocks noGrp="1"/>
          </p:cNvSpPr>
          <p:nvPr>
            <p:ph type="dt" sz="half" idx="11"/>
          </p:nvPr>
        </p:nvSpPr>
        <p:spPr/>
        <p:txBody>
          <a:bodyPr/>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6" name="燈片編號佔位符 5"/>
          <p:cNvSpPr>
            <a:spLocks noGrp="1"/>
          </p:cNvSpPr>
          <p:nvPr>
            <p:ph type="sldNum" sz="quarter" idx="12"/>
          </p:nvPr>
        </p:nvSpPr>
        <p:spPr/>
        <p:txBody>
          <a:bodyPr/>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Holder 2"/>
          <p:cNvSpPr>
            <a:spLocks noGrp="1"/>
          </p:cNvSpPr>
          <p:nvPr>
            <p:ph type="title"/>
          </p:nvPr>
        </p:nvSpPr>
        <p:spPr>
          <a:xfrm>
            <a:off x="377825" y="427038"/>
            <a:ext cx="6797675" cy="1711325"/>
          </a:xfrm>
          <a:prstGeom prst="rect">
            <a:avLst/>
          </a:prstGeom>
          <a:noFill/>
          <a:ln w="9525">
            <a:noFill/>
          </a:ln>
        </p:spPr>
        <p:txBody>
          <a:bodyPr wrap="square" lIns="0" tIns="0" rIns="0" bIns="0" anchor="t" anchorCtr="0"/>
          <a:p>
            <a:pPr lvl="0"/>
            <a:endParaRPr lang="ru-RU" altLang="zh-HK"/>
          </a:p>
        </p:txBody>
      </p:sp>
      <p:sp>
        <p:nvSpPr>
          <p:cNvPr id="1027" name="Holder 3"/>
          <p:cNvSpPr>
            <a:spLocks noGrp="1"/>
          </p:cNvSpPr>
          <p:nvPr>
            <p:ph type="body"/>
          </p:nvPr>
        </p:nvSpPr>
        <p:spPr>
          <a:xfrm>
            <a:off x="377825" y="2459038"/>
            <a:ext cx="6797675" cy="7058025"/>
          </a:xfrm>
          <a:prstGeom prst="rect">
            <a:avLst/>
          </a:prstGeom>
          <a:noFill/>
          <a:ln w="9525">
            <a:noFill/>
          </a:ln>
        </p:spPr>
        <p:txBody>
          <a:bodyPr wrap="square" lIns="0" tIns="0" rIns="0" bIns="0" anchor="t" anchorCtr="0"/>
          <a:p>
            <a:pPr lvl="0"/>
            <a:endParaRPr lang="ru-RU" altLang="zh-HK"/>
          </a:p>
        </p:txBody>
      </p:sp>
      <p:sp>
        <p:nvSpPr>
          <p:cNvPr id="1028" name="Holder 4"/>
          <p:cNvSpPr>
            <a:spLocks noGrp="1"/>
          </p:cNvSpPr>
          <p:nvPr>
            <p:ph type="ftr" sz="quarter" idx="2"/>
          </p:nvPr>
        </p:nvSpPr>
        <p:spPr>
          <a:xfrm>
            <a:off x="2568575" y="9944100"/>
            <a:ext cx="2417763" cy="534988"/>
          </a:xfrm>
          <a:prstGeom prst="rect">
            <a:avLst/>
          </a:prstGeom>
          <a:noFill/>
          <a:ln w="9525">
            <a:noFill/>
          </a:ln>
        </p:spPr>
        <p:txBody>
          <a:bodyPr wrap="square" lIns="0" tIns="0" rIns="0" bIns="0"/>
          <a:lstStyle>
            <a:lvl1pPr>
              <a:defRPr/>
            </a:lvl1pPr>
          </a:lstStyle>
          <a:p>
            <a:pPr lvl="0" fontAlgn="base"/>
          </a:p>
        </p:txBody>
      </p:sp>
      <p:sp>
        <p:nvSpPr>
          <p:cNvPr id="1029" name="Holder 5"/>
          <p:cNvSpPr>
            <a:spLocks noGrp="1"/>
          </p:cNvSpPr>
          <p:nvPr>
            <p:ph type="dt" sz="half" idx="3"/>
          </p:nvPr>
        </p:nvSpPr>
        <p:spPr>
          <a:xfrm>
            <a:off x="377825" y="9944100"/>
            <a:ext cx="1736725" cy="534988"/>
          </a:xfrm>
          <a:prstGeom prst="rect">
            <a:avLst/>
          </a:prstGeom>
          <a:noFill/>
          <a:ln w="9525">
            <a:noFill/>
          </a:ln>
        </p:spPr>
        <p:txBody>
          <a:bodyPr wrap="square" lIns="0" tIns="0" rIns="0" bIns="0"/>
          <a:lstStyle>
            <a:lvl1pPr algn="l">
              <a:defRPr>
                <a:solidFill>
                  <a:schemeClr val="tx1"/>
                </a:solidFill>
              </a:defRPr>
            </a:lvl1pPr>
          </a:lstStyle>
          <a:p>
            <a:pPr lvl="0" fontAlgn="base"/>
            <a:fld id="{BB962C8B-B14F-4D97-AF65-F5344CB8AC3E}" type="datetime1">
              <a:rPr lang="en-US" strike="noStrike" noProof="1">
                <a:latin typeface="Calibri" panose="020F0502020204030204"/>
                <a:ea typeface="+mn-ea"/>
                <a:cs typeface="+mn-cs"/>
              </a:rPr>
            </a:fld>
            <a:endParaRPr lang="en-US" strike="noStrike" noProof="1"/>
          </a:p>
        </p:txBody>
      </p:sp>
      <p:sp>
        <p:nvSpPr>
          <p:cNvPr id="1030" name="Holder 6"/>
          <p:cNvSpPr>
            <a:spLocks noGrp="1"/>
          </p:cNvSpPr>
          <p:nvPr>
            <p:ph type="sldNum" sz="quarter" idx="4"/>
          </p:nvPr>
        </p:nvSpPr>
        <p:spPr>
          <a:xfrm>
            <a:off x="5438775" y="9944100"/>
            <a:ext cx="1736725" cy="534988"/>
          </a:xfrm>
          <a:prstGeom prst="rect">
            <a:avLst/>
          </a:prstGeom>
          <a:noFill/>
          <a:ln w="9525">
            <a:noFill/>
          </a:ln>
        </p:spPr>
        <p:txBody>
          <a:bodyPr wrap="square" lIns="0" tIns="0" rIns="0" bIns="0"/>
          <a:lstStyle>
            <a:lvl1pPr algn="r">
              <a:defRPr>
                <a:solidFill>
                  <a:schemeClr val="tx1"/>
                </a:solidFill>
              </a:defRPr>
            </a:lvl1pPr>
          </a:lstStyle>
          <a:p>
            <a:pPr lvl="0" fontAlgn="base"/>
            <a:fld id="{9A0DB2DC-4C9A-4742-B13C-FB6460FD3503}" type="slidenum">
              <a:rPr lang="ru-RU" strike="noStrike" noProof="1">
                <a:latin typeface="Calibri" panose="020F0502020204030204"/>
                <a:ea typeface="+mn-ea"/>
                <a:cs typeface="+mn-cs"/>
              </a:rPr>
            </a:fld>
            <a:endParaRPr lang="ru-RU" strike="noStrike" noProof="1">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buNone/>
        <a:defRPr kern="1200">
          <a:latin typeface="+mj-lt"/>
          <a:ea typeface="+mj-ea"/>
          <a:cs typeface="+mj-cs"/>
        </a:defRPr>
      </a:lvl1pPr>
    </p:titleStyle>
    <p:bodyStyle>
      <a:lvl1pPr marL="0" lvl="0" indent="0">
        <a:buNone/>
        <a:defRPr sz="3200" kern="1200">
          <a:latin typeface="+mn-lt"/>
          <a:ea typeface="+mn-ea"/>
          <a:cs typeface="+mn-cs"/>
        </a:defRPr>
      </a:lvl1pPr>
      <a:lvl2pPr marL="457200" lvl="1" indent="0">
        <a:buNone/>
        <a:defRPr sz="3200" kern="1200">
          <a:latin typeface="Calibri" panose="020F0502020204030204"/>
          <a:ea typeface="Arial" panose="020B0604020202020204"/>
          <a:cs typeface="+mn-cs"/>
        </a:defRPr>
      </a:lvl2pPr>
      <a:lvl3pPr marL="914400" lvl="2" indent="0">
        <a:buNone/>
        <a:defRPr sz="3200" kern="1200">
          <a:latin typeface="Calibri" panose="020F0502020204030204"/>
          <a:ea typeface="Arial" panose="020B0604020202020204"/>
          <a:cs typeface="+mn-cs"/>
        </a:defRPr>
      </a:lvl3pPr>
      <a:lvl4pPr marL="1371600" lvl="3" indent="0">
        <a:buNone/>
        <a:defRPr sz="3200" kern="1200">
          <a:latin typeface="Calibri" panose="020F0502020204030204"/>
          <a:ea typeface="Arial" panose="020B0604020202020204"/>
          <a:cs typeface="+mn-cs"/>
        </a:defRPr>
      </a:lvl4pPr>
      <a:lvl5pPr marL="1828800" lvl="4" indent="0">
        <a:buNone/>
        <a:defRPr sz="3200" kern="1200">
          <a:latin typeface="Calibri" panose="020F0502020204030204"/>
          <a:ea typeface="Arial" panose="020B0604020202020204"/>
          <a:cs typeface="+mn-cs"/>
        </a:defRPr>
      </a:lvl5pPr>
      <a:lvl6pPr marL="2514600" lvl="5" indent="-228600">
        <a:buNone/>
        <a:defRPr sz="3200" kern="1200">
          <a:latin typeface="Calibri" panose="020F0502020204030204"/>
          <a:ea typeface="Arial" panose="020B0604020202020204"/>
          <a:cs typeface="+mn-cs"/>
        </a:defRPr>
      </a:lvl6pPr>
      <a:lvl7pPr marL="2971800" lvl="6" indent="-228600">
        <a:buNone/>
        <a:defRPr sz="3200" kern="1200">
          <a:latin typeface="Calibri" panose="020F0502020204030204"/>
          <a:ea typeface="Arial" panose="020B0604020202020204"/>
          <a:cs typeface="+mn-cs"/>
        </a:defRPr>
      </a:lvl7pPr>
      <a:lvl8pPr marL="3429000" lvl="7" indent="-228600">
        <a:buNone/>
        <a:defRPr sz="3200" kern="1200">
          <a:latin typeface="Calibri" panose="020F0502020204030204"/>
          <a:ea typeface="Arial" panose="020B0604020202020204"/>
          <a:cs typeface="+mn-cs"/>
        </a:defRPr>
      </a:lvl8pPr>
      <a:lvl9pPr marL="3886200" lvl="8" indent="-228600">
        <a:buNone/>
        <a:defRPr sz="3200" kern="1200">
          <a:latin typeface="Calibri" panose="020F0502020204030204"/>
          <a:ea typeface="Arial" panose="020B0604020202020204"/>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Calibri" panose="020F0502020204030204"/>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49" name="object 1"/>
          <p:cNvSpPr/>
          <p:nvPr/>
        </p:nvSpPr>
        <p:spPr>
          <a:xfrm>
            <a:off x="-96520" y="-9906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2050" name="object 3"/>
          <p:cNvSpPr/>
          <p:nvPr/>
        </p:nvSpPr>
        <p:spPr>
          <a:xfrm>
            <a:off x="4595813" y="1854200"/>
            <a:ext cx="4354512" cy="1549400"/>
          </a:xfrm>
          <a:prstGeom prst="rect">
            <a:avLst/>
          </a:prstGeom>
          <a:noFill/>
          <a:ln w="9525">
            <a:noFill/>
          </a:ln>
        </p:spPr>
        <p:txBody>
          <a:bodyPr wrap="square" lIns="0" tIns="0" rIns="0" bIns="0" anchor="t" anchorCtr="0"/>
          <a:p>
            <a:pPr>
              <a:lnSpc>
                <a:spcPts val="5000"/>
              </a:lnSpc>
            </a:pPr>
            <a:r>
              <a:rPr lang="zh-CN" altLang="zh-HK" sz="4800">
                <a:solidFill>
                  <a:srgbClr val="414955"/>
                </a:solidFill>
                <a:latin typeface="VQFMMU+MicrosoftYaHei-Bold" panose="02000500000000000000"/>
              </a:rPr>
              <a:t>学术</a:t>
            </a:r>
            <a:r>
              <a:rPr lang="zh-CN" altLang="zh-HK" sz="4800">
                <a:solidFill>
                  <a:srgbClr val="414955"/>
                </a:solidFill>
                <a:latin typeface="VQFMMU+MicrosoftYaHei-Bold" panose="02000500000000000000"/>
              </a:rPr>
              <a:t>活动月</a:t>
            </a:r>
            <a:endParaRPr lang="zh-CN" altLang="zh-HK" sz="4800">
              <a:solidFill>
                <a:srgbClr val="414955"/>
              </a:solidFill>
              <a:latin typeface="VQFMMU+MicrosoftYaHei-Bold" panose="02000500000000000000"/>
            </a:endParaRPr>
          </a:p>
        </p:txBody>
      </p:sp>
      <p:sp>
        <p:nvSpPr>
          <p:cNvPr id="2051" name="object 4"/>
          <p:cNvSpPr/>
          <p:nvPr/>
        </p:nvSpPr>
        <p:spPr>
          <a:xfrm>
            <a:off x="2422525" y="2783205"/>
            <a:ext cx="7927340" cy="1271270"/>
          </a:xfrm>
          <a:prstGeom prst="rect">
            <a:avLst/>
          </a:prstGeom>
          <a:noFill/>
          <a:ln w="9525">
            <a:noFill/>
          </a:ln>
        </p:spPr>
        <p:txBody>
          <a:bodyPr wrap="square" lIns="0" tIns="0" rIns="0" bIns="0" anchor="t" anchorCtr="0"/>
          <a:p>
            <a:pPr algn="ctr">
              <a:lnSpc>
                <a:spcPts val="4590"/>
              </a:lnSpc>
            </a:pPr>
            <a:r>
              <a:rPr lang="zh-CN" altLang="zh-HK" sz="4400">
                <a:solidFill>
                  <a:srgbClr val="414955"/>
                </a:solidFill>
                <a:latin typeface="TVOCAF+MicrosoftYaHei" panose="02000500000000000000"/>
              </a:rPr>
              <a:t>基于知识图谱的联邦推荐的研究与</a:t>
            </a:r>
            <a:r>
              <a:rPr lang="zh-CN" altLang="zh-HK" sz="4400">
                <a:solidFill>
                  <a:srgbClr val="414955"/>
                </a:solidFill>
                <a:latin typeface="TVOCAF+MicrosoftYaHei" panose="02000500000000000000"/>
              </a:rPr>
              <a:t>应用</a:t>
            </a:r>
            <a:endParaRPr lang="zh-CN" altLang="zh-HK" sz="4400">
              <a:solidFill>
                <a:srgbClr val="414955"/>
              </a:solidFill>
              <a:latin typeface="TVOCAF+MicrosoftYaHei" panose="02000500000000000000"/>
            </a:endParaRPr>
          </a:p>
        </p:txBody>
      </p:sp>
      <p:sp>
        <p:nvSpPr>
          <p:cNvPr id="2052" name="object 5"/>
          <p:cNvSpPr/>
          <p:nvPr/>
        </p:nvSpPr>
        <p:spPr>
          <a:xfrm>
            <a:off x="3844925" y="4875213"/>
            <a:ext cx="1727200" cy="515937"/>
          </a:xfrm>
          <a:prstGeom prst="rect">
            <a:avLst/>
          </a:prstGeom>
          <a:noFill/>
          <a:ln w="9525">
            <a:noFill/>
          </a:ln>
        </p:spPr>
        <p:txBody>
          <a:bodyPr wrap="square" lIns="0" tIns="0" rIns="0" bIns="0" anchor="t" anchorCtr="0"/>
          <a:p>
            <a:pPr>
              <a:lnSpc>
                <a:spcPts val="1650"/>
              </a:lnSpc>
            </a:pPr>
            <a:r>
              <a:rPr lang="zh-HK" altLang="en-US" sz="1600">
                <a:solidFill>
                  <a:srgbClr val="414955"/>
                </a:solidFill>
                <a:latin typeface="TVOCAF+MicrosoftYaHei" panose="02000500000000000000"/>
              </a:rPr>
              <a:t>答辩人：</a:t>
            </a:r>
            <a:r>
              <a:rPr lang="zh-CN" altLang="zh-HK" sz="1600">
                <a:solidFill>
                  <a:srgbClr val="414955"/>
                </a:solidFill>
                <a:latin typeface="TVOCAF+MicrosoftYaHei" panose="02000500000000000000"/>
              </a:rPr>
              <a:t>伍勋高</a:t>
            </a:r>
            <a:endParaRPr lang="zh-CN" altLang="zh-HK" sz="1600">
              <a:solidFill>
                <a:srgbClr val="414955"/>
              </a:solidFill>
              <a:latin typeface="TVOCAF+MicrosoftYaHei" panose="02000500000000000000"/>
            </a:endParaRPr>
          </a:p>
        </p:txBody>
      </p:sp>
      <p:sp>
        <p:nvSpPr>
          <p:cNvPr id="2053" name="object 6"/>
          <p:cNvSpPr/>
          <p:nvPr/>
        </p:nvSpPr>
        <p:spPr>
          <a:xfrm>
            <a:off x="6981825" y="4875213"/>
            <a:ext cx="1524000" cy="515937"/>
          </a:xfrm>
          <a:prstGeom prst="rect">
            <a:avLst/>
          </a:prstGeom>
          <a:noFill/>
          <a:ln w="9525">
            <a:noFill/>
          </a:ln>
        </p:spPr>
        <p:txBody>
          <a:bodyPr wrap="square" lIns="0" tIns="0" rIns="0" bIns="0" anchor="t" anchorCtr="0"/>
          <a:p>
            <a:pPr>
              <a:lnSpc>
                <a:spcPts val="1650"/>
              </a:lnSpc>
            </a:pPr>
            <a:r>
              <a:rPr lang="zh-HK" altLang="en-US" sz="1600">
                <a:solidFill>
                  <a:srgbClr val="414955"/>
                </a:solidFill>
                <a:latin typeface="TVOCAF+MicrosoftYaHei" panose="02000500000000000000"/>
              </a:rPr>
              <a:t>导师：</a:t>
            </a:r>
            <a:r>
              <a:rPr lang="zh-CN" altLang="zh-HK" sz="1600">
                <a:solidFill>
                  <a:srgbClr val="414955"/>
                </a:solidFill>
                <a:latin typeface="TVOCAF+MicrosoftYaHei" panose="02000500000000000000"/>
              </a:rPr>
              <a:t>吴昊</a:t>
            </a:r>
            <a:endParaRPr lang="zh-CN" altLang="zh-HK" sz="1600">
              <a:solidFill>
                <a:srgbClr val="414955"/>
              </a:solidFill>
              <a:latin typeface="TVOCAF+MicrosoftYaHei" panose="02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3" name="object 1"/>
          <p:cNvSpPr/>
          <p:nvPr/>
        </p:nvSpPr>
        <p:spPr>
          <a:xfrm>
            <a:off x="-312737" y="44133"/>
            <a:ext cx="12192000" cy="6858000"/>
          </a:xfrm>
          <a:prstGeom prst="rect">
            <a:avLst/>
          </a:prstGeom>
          <a:blipFill rotWithShape="0">
            <a:blip r:embed="rId1"/>
            <a:stretch>
              <a:fillRect/>
            </a:stretch>
          </a:blipFill>
          <a:ln w="9525">
            <a:noFill/>
          </a:ln>
        </p:spPr>
        <p:txBody>
          <a:bodyPr wrap="square" lIns="0" tIns="0" rIns="0" bIns="0" anchor="t" anchorCtr="0"/>
          <a:p>
            <a:r>
              <a:rPr lang="en-US" altLang="zh-HK">
                <a:solidFill>
                  <a:srgbClr val="595959"/>
                </a:solidFill>
                <a:latin typeface="VQFMMU+MicrosoftYaHei-Bold" panose="02000500000000000000"/>
              </a:rPr>
              <a:t>3</a:t>
            </a:r>
            <a:endParaRPr lang="ru-RU" altLang="zh-HK">
              <a:latin typeface="Calibri" panose="020F0502020204030204"/>
            </a:endParaRPr>
          </a:p>
        </p:txBody>
      </p:sp>
      <p:sp>
        <p:nvSpPr>
          <p:cNvPr id="3074" name="object 3"/>
          <p:cNvSpPr/>
          <p:nvPr/>
        </p:nvSpPr>
        <p:spPr>
          <a:xfrm>
            <a:off x="5281613" y="1449388"/>
            <a:ext cx="4338637" cy="460375"/>
          </a:xfrm>
          <a:prstGeom prst="rect">
            <a:avLst/>
          </a:prstGeom>
          <a:noFill/>
          <a:ln w="9525">
            <a:noFill/>
          </a:ln>
        </p:spPr>
        <p:txBody>
          <a:bodyPr wrap="square" lIns="0" tIns="0" rIns="0" bIns="0" anchor="t" anchorCtr="0"/>
          <a:p>
            <a:pPr>
              <a:lnSpc>
                <a:spcPts val="2900"/>
              </a:lnSpc>
            </a:pPr>
            <a:r>
              <a:rPr lang="en-US" altLang="zh-HK" sz="2800">
                <a:solidFill>
                  <a:srgbClr val="595959"/>
                </a:solidFill>
                <a:latin typeface="VQFMMU+MicrosoftYaHei-Bold" panose="02000500000000000000"/>
              </a:rPr>
              <a:t>1   </a:t>
            </a:r>
            <a:r>
              <a:rPr lang="zh-HK" altLang="en-US" sz="2800">
                <a:solidFill>
                  <a:srgbClr val="595959"/>
                </a:solidFill>
                <a:latin typeface="TVOCAF+MicrosoftYaHei" panose="02000500000000000000"/>
              </a:rPr>
              <a:t>选题背景和意义</a:t>
            </a:r>
            <a:endParaRPr lang="zh-HK" altLang="en-US" sz="2800">
              <a:solidFill>
                <a:srgbClr val="595959"/>
              </a:solidFill>
              <a:latin typeface="TVOCAF+MicrosoftYaHei" panose="02000500000000000000"/>
            </a:endParaRPr>
          </a:p>
        </p:txBody>
      </p:sp>
      <p:sp>
        <p:nvSpPr>
          <p:cNvPr id="3075" name="object 5"/>
          <p:cNvSpPr/>
          <p:nvPr/>
        </p:nvSpPr>
        <p:spPr>
          <a:xfrm>
            <a:off x="5735638" y="2636838"/>
            <a:ext cx="3644900" cy="423862"/>
          </a:xfrm>
          <a:prstGeom prst="rect">
            <a:avLst/>
          </a:prstGeom>
          <a:noFill/>
          <a:ln w="9525">
            <a:noFill/>
          </a:ln>
        </p:spPr>
        <p:txBody>
          <a:bodyPr wrap="square" lIns="0" tIns="0" rIns="0" bIns="0" anchor="t" anchorCtr="0"/>
          <a:p>
            <a:pPr>
              <a:lnSpc>
                <a:spcPts val="2900"/>
              </a:lnSpc>
            </a:pPr>
            <a:r>
              <a:rPr lang="en-US" altLang="zh-HK" sz="2800">
                <a:solidFill>
                  <a:srgbClr val="595959"/>
                </a:solidFill>
                <a:latin typeface="TVOCAF+MicrosoftYaHei" panose="02000500000000000000"/>
              </a:rPr>
              <a:t> </a:t>
            </a:r>
            <a:r>
              <a:rPr lang="zh-HK" altLang="en-US" sz="2800">
                <a:solidFill>
                  <a:srgbClr val="595959"/>
                </a:solidFill>
                <a:latin typeface="TVOCAF+MicrosoftYaHei" panose="02000500000000000000"/>
              </a:rPr>
              <a:t>拟解决的关键问题</a:t>
            </a:r>
            <a:endParaRPr lang="zh-HK" altLang="en-US" sz="2800">
              <a:solidFill>
                <a:srgbClr val="595959"/>
              </a:solidFill>
              <a:latin typeface="TVOCAF+MicrosoftYaHei" panose="02000500000000000000"/>
            </a:endParaRPr>
          </a:p>
        </p:txBody>
      </p:sp>
      <p:sp>
        <p:nvSpPr>
          <p:cNvPr id="3076" name="object 6"/>
          <p:cNvSpPr/>
          <p:nvPr/>
        </p:nvSpPr>
        <p:spPr>
          <a:xfrm>
            <a:off x="2543175" y="3143250"/>
            <a:ext cx="2493963" cy="1549400"/>
          </a:xfrm>
          <a:prstGeom prst="rect">
            <a:avLst/>
          </a:prstGeom>
          <a:noFill/>
          <a:ln w="9525">
            <a:noFill/>
          </a:ln>
        </p:spPr>
        <p:txBody>
          <a:bodyPr wrap="square" lIns="0" tIns="0" rIns="0" bIns="0" anchor="t" anchorCtr="0"/>
          <a:p>
            <a:pPr>
              <a:lnSpc>
                <a:spcPts val="5000"/>
              </a:lnSpc>
            </a:pPr>
            <a:r>
              <a:rPr lang="zh-HK" altLang="en-US" sz="4800">
                <a:solidFill>
                  <a:srgbClr val="414955"/>
                </a:solidFill>
                <a:latin typeface="TVOCAF+MicrosoftYaHei" panose="02000500000000000000"/>
              </a:rPr>
              <a:t>目 录</a:t>
            </a:r>
            <a:endParaRPr lang="zh-HK" altLang="en-US" sz="4800">
              <a:solidFill>
                <a:srgbClr val="414955"/>
              </a:solidFill>
              <a:latin typeface="TVOCAF+MicrosoftYaHei" panose="02000500000000000000"/>
            </a:endParaRPr>
          </a:p>
        </p:txBody>
      </p:sp>
      <p:sp>
        <p:nvSpPr>
          <p:cNvPr id="3077" name="object 7"/>
          <p:cNvSpPr/>
          <p:nvPr/>
        </p:nvSpPr>
        <p:spPr>
          <a:xfrm>
            <a:off x="5281613" y="3543300"/>
            <a:ext cx="4813300" cy="1749425"/>
          </a:xfrm>
          <a:prstGeom prst="rect">
            <a:avLst/>
          </a:prstGeom>
          <a:noFill/>
          <a:ln w="9525">
            <a:noFill/>
          </a:ln>
        </p:spPr>
        <p:txBody>
          <a:bodyPr wrap="square" lIns="0" tIns="0" rIns="0" bIns="0" anchor="t" anchorCtr="0"/>
          <a:p>
            <a:pPr>
              <a:lnSpc>
                <a:spcPts val="2900"/>
              </a:lnSpc>
            </a:pPr>
            <a:r>
              <a:rPr lang="en-US" altLang="zh-HK" sz="2800">
                <a:solidFill>
                  <a:srgbClr val="595959"/>
                </a:solidFill>
                <a:latin typeface="VQFMMU+MicrosoftYaHei-Bold" panose="02000500000000000000"/>
              </a:rPr>
              <a:t>3   </a:t>
            </a:r>
            <a:r>
              <a:rPr lang="zh-HK" altLang="en-US" sz="2800">
                <a:solidFill>
                  <a:srgbClr val="595959"/>
                </a:solidFill>
                <a:latin typeface="TVOCAF+MicrosoftYaHei" panose="02000500000000000000"/>
              </a:rPr>
              <a:t>拟采取的研究方案</a:t>
            </a:r>
            <a:endParaRPr lang="zh-HK" altLang="en-US" sz="2800">
              <a:solidFill>
                <a:srgbClr val="595959"/>
              </a:solidFill>
              <a:latin typeface="TVOCAF+MicrosoftYaHei" panose="02000500000000000000"/>
            </a:endParaRPr>
          </a:p>
        </p:txBody>
      </p:sp>
      <p:sp>
        <p:nvSpPr>
          <p:cNvPr id="3078" name="object 8"/>
          <p:cNvSpPr/>
          <p:nvPr/>
        </p:nvSpPr>
        <p:spPr>
          <a:xfrm>
            <a:off x="5807075" y="4292600"/>
            <a:ext cx="2857500" cy="903288"/>
          </a:xfrm>
          <a:prstGeom prst="rect">
            <a:avLst/>
          </a:prstGeom>
          <a:noFill/>
          <a:ln w="9525">
            <a:noFill/>
          </a:ln>
        </p:spPr>
        <p:txBody>
          <a:bodyPr wrap="square" lIns="0" tIns="0" rIns="0" bIns="0" anchor="t" anchorCtr="0"/>
          <a:p>
            <a:pPr>
              <a:lnSpc>
                <a:spcPts val="2900"/>
              </a:lnSpc>
            </a:pPr>
            <a:r>
              <a:rPr lang="zh-HK" altLang="en-US" sz="2800">
                <a:solidFill>
                  <a:srgbClr val="595959"/>
                </a:solidFill>
                <a:latin typeface="TVOCAF+MicrosoftYaHei" panose="02000500000000000000"/>
              </a:rPr>
              <a:t>特色和创新点</a:t>
            </a:r>
            <a:endParaRPr lang="zh-HK" altLang="en-US" sz="2800">
              <a:solidFill>
                <a:srgbClr val="595959"/>
              </a:solidFill>
              <a:latin typeface="TVOCAF+MicrosoftYaHei" panose="02000500000000000000"/>
            </a:endParaRPr>
          </a:p>
        </p:txBody>
      </p:sp>
      <p:sp>
        <p:nvSpPr>
          <p:cNvPr id="3079" name="object 9"/>
          <p:cNvSpPr/>
          <p:nvPr/>
        </p:nvSpPr>
        <p:spPr>
          <a:xfrm>
            <a:off x="5281613" y="4333875"/>
            <a:ext cx="752475" cy="903288"/>
          </a:xfrm>
          <a:prstGeom prst="rect">
            <a:avLst/>
          </a:prstGeom>
          <a:noFill/>
          <a:ln w="9525">
            <a:noFill/>
          </a:ln>
        </p:spPr>
        <p:txBody>
          <a:bodyPr wrap="square" lIns="0" tIns="0" rIns="0" bIns="0" anchor="t" anchorCtr="0"/>
          <a:p>
            <a:pPr>
              <a:lnSpc>
                <a:spcPts val="2900"/>
              </a:lnSpc>
            </a:pPr>
            <a:r>
              <a:rPr lang="en-US" altLang="zh-HK" sz="2800">
                <a:solidFill>
                  <a:srgbClr val="595959"/>
                </a:solidFill>
                <a:latin typeface="VQFMMU+MicrosoftYaHei-Bold" panose="02000500000000000000"/>
              </a:rPr>
              <a:t>4</a:t>
            </a:r>
            <a:endParaRPr lang="en-US" altLang="zh-HK" sz="2800">
              <a:solidFill>
                <a:srgbClr val="595959"/>
              </a:solidFill>
              <a:latin typeface="VQFMMU+MicrosoftYaHei-Bold" panose="02000500000000000000"/>
            </a:endParaRPr>
          </a:p>
        </p:txBody>
      </p:sp>
      <p:sp>
        <p:nvSpPr>
          <p:cNvPr id="3080" name="object 5"/>
          <p:cNvSpPr/>
          <p:nvPr/>
        </p:nvSpPr>
        <p:spPr>
          <a:xfrm>
            <a:off x="5735638" y="2133600"/>
            <a:ext cx="3644900" cy="422275"/>
          </a:xfrm>
          <a:prstGeom prst="rect">
            <a:avLst/>
          </a:prstGeom>
          <a:noFill/>
          <a:ln w="9525">
            <a:noFill/>
          </a:ln>
        </p:spPr>
        <p:txBody>
          <a:bodyPr wrap="square" lIns="0" tIns="0" rIns="0" bIns="0" anchor="t" anchorCtr="0"/>
          <a:p>
            <a:pPr>
              <a:lnSpc>
                <a:spcPts val="2900"/>
              </a:lnSpc>
            </a:pPr>
            <a:r>
              <a:rPr lang="en-US" altLang="zh-CN" sz="2800">
                <a:solidFill>
                  <a:srgbClr val="595959"/>
                </a:solidFill>
                <a:latin typeface="TVOCAF+MicrosoftYaHei" panose="02000500000000000000"/>
              </a:rPr>
              <a:t> </a:t>
            </a:r>
            <a:r>
              <a:rPr lang="zh-CN" altLang="en-US" sz="2800">
                <a:solidFill>
                  <a:srgbClr val="595959"/>
                </a:solidFill>
                <a:latin typeface="TVOCAF+MicrosoftYaHei" panose="02000500000000000000"/>
              </a:rPr>
              <a:t>研究目标</a:t>
            </a:r>
            <a:endParaRPr lang="zh-CN" altLang="en-US" sz="2800">
              <a:solidFill>
                <a:srgbClr val="595959"/>
              </a:solidFill>
              <a:latin typeface="TVOCAF+MicrosoftYaHei" panose="02000500000000000000"/>
            </a:endParaRPr>
          </a:p>
        </p:txBody>
      </p:sp>
      <p:sp>
        <p:nvSpPr>
          <p:cNvPr id="3081" name="文字框 2"/>
          <p:cNvSpPr txBox="1"/>
          <p:nvPr/>
        </p:nvSpPr>
        <p:spPr>
          <a:xfrm>
            <a:off x="5159375" y="2420938"/>
            <a:ext cx="787400" cy="522287"/>
          </a:xfrm>
          <a:prstGeom prst="rect">
            <a:avLst/>
          </a:prstGeom>
          <a:noFill/>
          <a:ln w="9525">
            <a:noFill/>
          </a:ln>
        </p:spPr>
        <p:txBody>
          <a:bodyPr wrap="square" anchor="t" anchorCtr="0">
            <a:spAutoFit/>
          </a:bodyPr>
          <a:p>
            <a:r>
              <a:rPr lang="en-US" altLang="zh-HK" sz="2800">
                <a:solidFill>
                  <a:srgbClr val="595959"/>
                </a:solidFill>
                <a:latin typeface="VQFMMU+MicrosoftYaHei-Bold" panose="02000500000000000000"/>
              </a:rPr>
              <a:t>2</a:t>
            </a:r>
            <a:endParaRPr lang="en-US" altLang="zh-HK" sz="2800">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7"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4098" name="object 3"/>
          <p:cNvSpPr/>
          <p:nvPr/>
        </p:nvSpPr>
        <p:spPr>
          <a:xfrm>
            <a:off x="4295775" y="2420938"/>
            <a:ext cx="3625850" cy="1936750"/>
          </a:xfrm>
          <a:prstGeom prst="rect">
            <a:avLst/>
          </a:prstGeom>
          <a:noFill/>
          <a:ln w="9525">
            <a:noFill/>
          </a:ln>
        </p:spPr>
        <p:txBody>
          <a:bodyPr wrap="square" lIns="0" tIns="0" rIns="0" bIns="0" anchor="t" anchorCtr="0"/>
          <a:p>
            <a:pPr>
              <a:lnSpc>
                <a:spcPts val="6250"/>
              </a:lnSpc>
            </a:pPr>
            <a:r>
              <a:rPr lang="en-US" altLang="zh-HK" sz="6000">
                <a:solidFill>
                  <a:srgbClr val="595959"/>
                </a:solidFill>
                <a:latin typeface="LDIQCC+Impact"/>
              </a:rPr>
              <a:t>PART 01</a:t>
            </a:r>
            <a:endParaRPr lang="en-US" altLang="zh-HK" sz="6000">
              <a:solidFill>
                <a:srgbClr val="595959"/>
              </a:solidFill>
              <a:latin typeface="LDIQCC+Impact"/>
            </a:endParaRPr>
          </a:p>
        </p:txBody>
      </p:sp>
      <p:sp>
        <p:nvSpPr>
          <p:cNvPr id="4099" name="object 4"/>
          <p:cNvSpPr/>
          <p:nvPr/>
        </p:nvSpPr>
        <p:spPr>
          <a:xfrm>
            <a:off x="4540250" y="3533775"/>
            <a:ext cx="3683000" cy="1033463"/>
          </a:xfrm>
          <a:prstGeom prst="rect">
            <a:avLst/>
          </a:prstGeom>
          <a:noFill/>
          <a:ln w="9525">
            <a:noFill/>
          </a:ln>
        </p:spPr>
        <p:txBody>
          <a:bodyPr wrap="square" lIns="0" tIns="0" rIns="0" bIns="0" anchor="t" anchorCtr="0"/>
          <a:p>
            <a:pPr>
              <a:lnSpc>
                <a:spcPts val="3340"/>
              </a:lnSpc>
            </a:pPr>
            <a:r>
              <a:rPr lang="zh-HK" altLang="en-US" sz="3200">
                <a:solidFill>
                  <a:srgbClr val="595959"/>
                </a:solidFill>
                <a:latin typeface="VQFMMU+MicrosoftYaHei-Bold" panose="02000500000000000000"/>
              </a:rPr>
              <a:t>选题背景和意义</a:t>
            </a:r>
            <a:endParaRPr lang="zh-HK" altLang="en-US" sz="3200">
              <a:solidFill>
                <a:srgbClr val="595959"/>
              </a:solidFill>
              <a:latin typeface="VQFMMU+MicrosoftYaHei-Bold" panose="02000500000000000000"/>
            </a:endParaRPr>
          </a:p>
        </p:txBody>
      </p:sp>
      <p:sp>
        <p:nvSpPr>
          <p:cNvPr id="4100" name="object 5"/>
          <p:cNvSpPr/>
          <p:nvPr/>
        </p:nvSpPr>
        <p:spPr>
          <a:xfrm>
            <a:off x="4540250" y="4411663"/>
            <a:ext cx="2444750" cy="1012825"/>
          </a:xfrm>
          <a:prstGeom prst="rect">
            <a:avLst/>
          </a:prstGeom>
          <a:noFill/>
          <a:ln w="9525">
            <a:noFill/>
          </a:ln>
        </p:spPr>
        <p:txBody>
          <a:bodyPr wrap="square" lIns="0" tIns="0" rIns="0" bIns="0" anchor="t" anchorCtr="0"/>
          <a:p>
            <a:pPr>
              <a:lnSpc>
                <a:spcPts val="2090"/>
              </a:lnSpc>
            </a:pPr>
            <a:r>
              <a:rPr lang="en-US" altLang="zh-HK" sz="2000">
                <a:solidFill>
                  <a:srgbClr val="595959"/>
                </a:solidFill>
                <a:latin typeface="PDDLES+ArialMT" panose="02000500000000000000"/>
              </a:rPr>
              <a:t>• </a:t>
            </a:r>
            <a:r>
              <a:rPr lang="zh-HK" altLang="en-US" sz="2000">
                <a:solidFill>
                  <a:srgbClr val="595959"/>
                </a:solidFill>
                <a:latin typeface="TVOCAF+MicrosoftYaHei" panose="02000500000000000000"/>
              </a:rPr>
              <a:t>选题背景和意义</a:t>
            </a:r>
            <a:endParaRPr lang="zh-HK" altLang="en-US" sz="2000">
              <a:solidFill>
                <a:srgbClr val="595959"/>
              </a:solidFill>
              <a:latin typeface="TVOCAF+MicrosoftYaHei" panose="02000500000000000000"/>
            </a:endParaRPr>
          </a:p>
          <a:p>
            <a:pPr>
              <a:lnSpc>
                <a:spcPts val="2090"/>
              </a:lnSpc>
              <a:spcBef>
                <a:spcPts val="790"/>
              </a:spcBef>
            </a:pPr>
            <a:r>
              <a:rPr lang="en-US" altLang="zh-HK" sz="2000">
                <a:solidFill>
                  <a:srgbClr val="595959"/>
                </a:solidFill>
                <a:latin typeface="PDDLES+ArialMT" panose="02000500000000000000"/>
              </a:rPr>
              <a:t>• </a:t>
            </a:r>
            <a:r>
              <a:rPr lang="zh-HK" altLang="en-US" sz="2000">
                <a:solidFill>
                  <a:srgbClr val="595959"/>
                </a:solidFill>
                <a:latin typeface="TVOCAF+MicrosoftYaHei" panose="02000500000000000000"/>
              </a:rPr>
              <a:t>国内外研究现状</a:t>
            </a:r>
            <a:endParaRPr lang="zh-HK" altLang="en-US" sz="2000">
              <a:solidFill>
                <a:srgbClr val="595959"/>
              </a:solidFill>
              <a:latin typeface="TVOCAF+MicrosoftYaHei" panose="02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1" name="object 1"/>
          <p:cNvSpPr/>
          <p:nvPr/>
        </p:nvSpPr>
        <p:spPr>
          <a:xfrm>
            <a:off x="-25400" y="-28575"/>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5122" name="object 3"/>
          <p:cNvSpPr/>
          <p:nvPr/>
        </p:nvSpPr>
        <p:spPr>
          <a:xfrm>
            <a:off x="10264775" y="117475"/>
            <a:ext cx="1901825" cy="1290638"/>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1</a:t>
            </a:r>
            <a:endParaRPr lang="en-US" altLang="zh-HK" sz="4000">
              <a:solidFill>
                <a:srgbClr val="595959"/>
              </a:solidFill>
              <a:latin typeface="LDIQCC+Impact"/>
            </a:endParaRPr>
          </a:p>
        </p:txBody>
      </p:sp>
      <p:sp>
        <p:nvSpPr>
          <p:cNvPr id="5123" name="object 4"/>
          <p:cNvSpPr/>
          <p:nvPr/>
        </p:nvSpPr>
        <p:spPr>
          <a:xfrm>
            <a:off x="4873625" y="255588"/>
            <a:ext cx="30226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选题背景和意义</a:t>
            </a:r>
            <a:endParaRPr lang="zh-HK" altLang="en-US" sz="2800">
              <a:solidFill>
                <a:srgbClr val="535353"/>
              </a:solidFill>
              <a:latin typeface="TVOCAF+MicrosoftYaHei" panose="02000500000000000000"/>
            </a:endParaRPr>
          </a:p>
        </p:txBody>
      </p:sp>
      <p:sp>
        <p:nvSpPr>
          <p:cNvPr id="5124" name="object 5"/>
          <p:cNvSpPr/>
          <p:nvPr/>
        </p:nvSpPr>
        <p:spPr>
          <a:xfrm>
            <a:off x="3189288" y="1212850"/>
            <a:ext cx="827087" cy="941388"/>
          </a:xfrm>
          <a:prstGeom prst="rect">
            <a:avLst/>
          </a:prstGeom>
          <a:noFill/>
          <a:ln w="9525">
            <a:noFill/>
          </a:ln>
        </p:spPr>
        <p:txBody>
          <a:bodyPr wrap="square" lIns="0" tIns="0" rIns="0" bIns="0" anchor="t" anchorCtr="0"/>
          <a:p>
            <a:pPr>
              <a:lnSpc>
                <a:spcPts val="1940"/>
              </a:lnSpc>
            </a:pPr>
            <a:r>
              <a:rPr lang="zh-HK" altLang="en-US">
                <a:solidFill>
                  <a:srgbClr val="FFFFFF"/>
                </a:solidFill>
                <a:latin typeface="VQFMMU+MicrosoftYaHei-Bold" panose="02000500000000000000"/>
              </a:rPr>
              <a:t>社会</a:t>
            </a:r>
            <a:endParaRPr lang="zh-HK" altLang="en-US">
              <a:solidFill>
                <a:srgbClr val="FFFFFF"/>
              </a:solidFill>
              <a:latin typeface="VQFMMU+MicrosoftYaHei-Bold" panose="02000500000000000000"/>
            </a:endParaRPr>
          </a:p>
          <a:p>
            <a:pPr>
              <a:lnSpc>
                <a:spcPts val="1940"/>
              </a:lnSpc>
              <a:spcBef>
                <a:spcPts val="740"/>
              </a:spcBef>
            </a:pPr>
            <a:r>
              <a:rPr lang="zh-HK" altLang="en-US">
                <a:solidFill>
                  <a:srgbClr val="FFFFFF"/>
                </a:solidFill>
                <a:latin typeface="VQFMMU+MicrosoftYaHei-Bold" panose="02000500000000000000"/>
              </a:rPr>
              <a:t>需求</a:t>
            </a:r>
            <a:endParaRPr lang="zh-HK" altLang="en-US">
              <a:solidFill>
                <a:srgbClr val="FFFFFF"/>
              </a:solidFill>
              <a:latin typeface="VQFMMU+MicrosoftYaHei-Bold" panose="02000500000000000000"/>
            </a:endParaRPr>
          </a:p>
        </p:txBody>
      </p:sp>
      <p:sp>
        <p:nvSpPr>
          <p:cNvPr id="5125" name="object 6"/>
          <p:cNvSpPr/>
          <p:nvPr/>
        </p:nvSpPr>
        <p:spPr>
          <a:xfrm>
            <a:off x="4222750" y="1216025"/>
            <a:ext cx="6211888" cy="452438"/>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随着信息技术和互联网的迅猛发展，推荐系统的应用愈发广泛。推荐系统须收集海量用户数据，包括浏览历史、购买记录、搜索习惯等，然而，这些数据的收集、存储与处理环节存在诸多漏洞，</a:t>
            </a:r>
            <a:r>
              <a:rPr lang="zh-CN" altLang="zh-HK" sz="1400">
                <a:solidFill>
                  <a:srgbClr val="595959"/>
                </a:solidFill>
                <a:latin typeface="TVOCAF+MicrosoftYaHei" panose="02000500000000000000"/>
              </a:rPr>
              <a:t>企业</a:t>
            </a:r>
            <a:r>
              <a:rPr lang="zh-HK" altLang="en-US" sz="1400">
                <a:solidFill>
                  <a:srgbClr val="595959"/>
                </a:solidFill>
                <a:latin typeface="TVOCAF+MicrosoftYaHei" panose="02000500000000000000"/>
              </a:rPr>
              <a:t>多次发生大规模用户数据泄露事件</a:t>
            </a:r>
            <a:r>
              <a:rPr lang="zh-CN" altLang="zh-HK" sz="1400">
                <a:solidFill>
                  <a:srgbClr val="595959"/>
                </a:solidFill>
                <a:latin typeface="TVOCAF+MicrosoftYaHei" panose="02000500000000000000"/>
                <a:ea typeface="宋体" panose="02010600030101010101" pitchFamily="2" charset="-122"/>
              </a:rPr>
              <a:t>。</a:t>
            </a:r>
            <a:endParaRPr lang="zh-CN" altLang="zh-HK" sz="1400">
              <a:solidFill>
                <a:srgbClr val="595959"/>
              </a:solidFill>
              <a:latin typeface="TVOCAF+MicrosoftYaHei" panose="02000500000000000000"/>
              <a:ea typeface="宋体" panose="02010600030101010101" pitchFamily="2" charset="-122"/>
            </a:endParaRPr>
          </a:p>
        </p:txBody>
      </p:sp>
      <p:sp>
        <p:nvSpPr>
          <p:cNvPr id="5126" name="object 8"/>
          <p:cNvSpPr/>
          <p:nvPr/>
        </p:nvSpPr>
        <p:spPr>
          <a:xfrm>
            <a:off x="4151313" y="2492375"/>
            <a:ext cx="7077075" cy="1006475"/>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知识图谱通过将实体及其关系以图结构表示，能够整合丰富的语义信息与结</a:t>
            </a:r>
            <a:endParaRPr lang="zh-HK" altLang="en-US" sz="1400">
              <a:solidFill>
                <a:srgbClr val="595959"/>
              </a:solidFill>
              <a:latin typeface="TVOCAF+MicrosoftYaHei" panose="02000500000000000000"/>
            </a:endParaRPr>
          </a:p>
          <a:p>
            <a:pPr marL="285750">
              <a:lnSpc>
                <a:spcPts val="1465"/>
              </a:lnSpc>
            </a:pPr>
            <a:r>
              <a:rPr lang="zh-HK" altLang="en-US" sz="1400">
                <a:solidFill>
                  <a:srgbClr val="595959"/>
                </a:solidFill>
                <a:latin typeface="TVOCAF+MicrosoftYaHei" panose="02000500000000000000"/>
              </a:rPr>
              <a:t>构化知识，为推荐系统提供更全面、深入的用户与物品理解。将知识图谱应用</a:t>
            </a:r>
            <a:endParaRPr lang="zh-HK" altLang="en-US" sz="1400">
              <a:solidFill>
                <a:srgbClr val="595959"/>
              </a:solidFill>
              <a:latin typeface="TVOCAF+MicrosoftYaHei" panose="02000500000000000000"/>
            </a:endParaRPr>
          </a:p>
          <a:p>
            <a:pPr marL="285750">
              <a:lnSpc>
                <a:spcPts val="1465"/>
              </a:lnSpc>
            </a:pPr>
            <a:r>
              <a:rPr lang="zh-HK" altLang="en-US" sz="1400">
                <a:solidFill>
                  <a:srgbClr val="595959"/>
                </a:solidFill>
                <a:latin typeface="TVOCAF+MicrosoftYaHei" panose="02000500000000000000"/>
              </a:rPr>
              <a:t>于推荐系统，提升推荐准确性、多样性，并增强推荐结果的可解释性。</a:t>
            </a:r>
            <a:endParaRPr lang="zh-HK" altLang="en-US" sz="1400">
              <a:solidFill>
                <a:srgbClr val="595959"/>
              </a:solidFill>
              <a:latin typeface="TVOCAF+MicrosoftYaHei" panose="02000500000000000000"/>
            </a:endParaRPr>
          </a:p>
        </p:txBody>
      </p:sp>
      <p:sp>
        <p:nvSpPr>
          <p:cNvPr id="5127" name="object 9"/>
          <p:cNvSpPr/>
          <p:nvPr/>
        </p:nvSpPr>
        <p:spPr>
          <a:xfrm>
            <a:off x="1484313" y="2736850"/>
            <a:ext cx="1066800" cy="1212850"/>
          </a:xfrm>
          <a:prstGeom prst="rect">
            <a:avLst/>
          </a:prstGeom>
          <a:noFill/>
          <a:ln w="9525">
            <a:noFill/>
          </a:ln>
        </p:spPr>
        <p:txBody>
          <a:bodyPr wrap="square" lIns="0" tIns="0" rIns="0" bIns="0" anchor="t" anchorCtr="0"/>
          <a:p>
            <a:pPr>
              <a:lnSpc>
                <a:spcPts val="2500"/>
              </a:lnSpc>
            </a:pPr>
            <a:r>
              <a:rPr lang="zh-HK" altLang="en-US" sz="2400">
                <a:solidFill>
                  <a:srgbClr val="FFFFFF"/>
                </a:solidFill>
                <a:latin typeface="VQFMMU+MicrosoftYaHei-Bold" panose="02000500000000000000"/>
              </a:rPr>
              <a:t>选题</a:t>
            </a:r>
            <a:endParaRPr lang="zh-HK" altLang="en-US" sz="2400">
              <a:solidFill>
                <a:srgbClr val="FFFFFF"/>
              </a:solidFill>
              <a:latin typeface="VQFMMU+MicrosoftYaHei-Bold" panose="02000500000000000000"/>
            </a:endParaRPr>
          </a:p>
          <a:p>
            <a:pPr>
              <a:lnSpc>
                <a:spcPts val="2500"/>
              </a:lnSpc>
              <a:spcBef>
                <a:spcPts val="950"/>
              </a:spcBef>
            </a:pPr>
            <a:r>
              <a:rPr lang="zh-HK" altLang="en-US" sz="2400">
                <a:solidFill>
                  <a:srgbClr val="FFFFFF"/>
                </a:solidFill>
                <a:latin typeface="VQFMMU+MicrosoftYaHei-Bold" panose="02000500000000000000"/>
              </a:rPr>
              <a:t>背景</a:t>
            </a:r>
            <a:endParaRPr lang="zh-HK" altLang="en-US" sz="2400">
              <a:solidFill>
                <a:srgbClr val="FFFFFF"/>
              </a:solidFill>
              <a:latin typeface="VQFMMU+MicrosoftYaHei-Bold" panose="02000500000000000000"/>
            </a:endParaRPr>
          </a:p>
        </p:txBody>
      </p:sp>
      <p:sp>
        <p:nvSpPr>
          <p:cNvPr id="5128" name="object 10"/>
          <p:cNvSpPr/>
          <p:nvPr/>
        </p:nvSpPr>
        <p:spPr>
          <a:xfrm>
            <a:off x="3187700" y="2751138"/>
            <a:ext cx="827088" cy="941387"/>
          </a:xfrm>
          <a:prstGeom prst="rect">
            <a:avLst/>
          </a:prstGeom>
          <a:noFill/>
          <a:ln w="9525">
            <a:noFill/>
          </a:ln>
        </p:spPr>
        <p:txBody>
          <a:bodyPr wrap="square" lIns="0" tIns="0" rIns="0" bIns="0" anchor="t" anchorCtr="0"/>
          <a:p>
            <a:pPr>
              <a:lnSpc>
                <a:spcPts val="1940"/>
              </a:lnSpc>
            </a:pPr>
            <a:r>
              <a:rPr lang="zh-CN" altLang="zh-HK">
                <a:solidFill>
                  <a:srgbClr val="FFFFFF"/>
                </a:solidFill>
                <a:latin typeface="VQFMMU+MicrosoftYaHei-Bold" panose="02000500000000000000"/>
              </a:rPr>
              <a:t>技术</a:t>
            </a:r>
            <a:endParaRPr lang="zh-HK" altLang="en-US">
              <a:solidFill>
                <a:srgbClr val="FFFFFF"/>
              </a:solidFill>
              <a:latin typeface="VQFMMU+MicrosoftYaHei-Bold" panose="02000500000000000000"/>
            </a:endParaRPr>
          </a:p>
          <a:p>
            <a:pPr>
              <a:lnSpc>
                <a:spcPts val="1940"/>
              </a:lnSpc>
              <a:spcBef>
                <a:spcPts val="740"/>
              </a:spcBef>
            </a:pPr>
            <a:r>
              <a:rPr lang="zh-HK" altLang="en-US">
                <a:solidFill>
                  <a:srgbClr val="FFFFFF"/>
                </a:solidFill>
                <a:latin typeface="VQFMMU+MicrosoftYaHei-Bold" panose="02000500000000000000"/>
              </a:rPr>
              <a:t>发展</a:t>
            </a:r>
            <a:endParaRPr lang="zh-HK" altLang="en-US">
              <a:solidFill>
                <a:srgbClr val="FFFFFF"/>
              </a:solidFill>
              <a:latin typeface="VQFMMU+MicrosoftYaHei-Bold" panose="02000500000000000000"/>
            </a:endParaRPr>
          </a:p>
        </p:txBody>
      </p:sp>
      <p:sp>
        <p:nvSpPr>
          <p:cNvPr id="5129" name="object 11"/>
          <p:cNvSpPr/>
          <p:nvPr/>
        </p:nvSpPr>
        <p:spPr>
          <a:xfrm>
            <a:off x="4151313" y="3230563"/>
            <a:ext cx="6954837" cy="708025"/>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联邦推荐作为一种新兴的隐私保护推荐技术，通过在多个参与方之间协作训</a:t>
            </a:r>
            <a:endParaRPr lang="zh-HK" altLang="en-US" sz="1400">
              <a:solidFill>
                <a:srgbClr val="595959"/>
              </a:solidFill>
              <a:latin typeface="TVOCAF+MicrosoftYaHei" panose="02000500000000000000"/>
            </a:endParaRPr>
          </a:p>
          <a:p>
            <a:pPr marL="285750">
              <a:lnSpc>
                <a:spcPts val="1465"/>
              </a:lnSpc>
            </a:pPr>
            <a:r>
              <a:rPr lang="zh-HK" altLang="en-US" sz="1400">
                <a:solidFill>
                  <a:srgbClr val="595959"/>
                </a:solidFill>
                <a:latin typeface="TVOCAF+MicrosoftYaHei" panose="02000500000000000000"/>
              </a:rPr>
              <a:t>练模型，同时确保用户数据不</a:t>
            </a:r>
            <a:r>
              <a:rPr lang="zh-CN" altLang="zh-HK" sz="1400">
                <a:solidFill>
                  <a:srgbClr val="595959"/>
                </a:solidFill>
                <a:latin typeface="TVOCAF+MicrosoftYaHei" panose="02000500000000000000"/>
              </a:rPr>
              <a:t>传出</a:t>
            </a:r>
            <a:r>
              <a:rPr lang="zh-HK" altLang="en-US" sz="1400">
                <a:solidFill>
                  <a:srgbClr val="595959"/>
                </a:solidFill>
                <a:latin typeface="TVOCAF+MicrosoftYaHei" panose="02000500000000000000"/>
              </a:rPr>
              <a:t>本地，能够有效保护用户隐私</a:t>
            </a:r>
            <a:r>
              <a:rPr lang="zh-CN" altLang="zh-HK" sz="1400">
                <a:solidFill>
                  <a:srgbClr val="595959"/>
                </a:solidFill>
                <a:latin typeface="TVOCAF+MicrosoftYaHei" panose="02000500000000000000"/>
                <a:ea typeface="宋体" panose="02010600030101010101" pitchFamily="2" charset="-122"/>
              </a:rPr>
              <a:t>。</a:t>
            </a:r>
            <a:endParaRPr lang="zh-CN" altLang="zh-HK" sz="1400">
              <a:solidFill>
                <a:srgbClr val="595959"/>
              </a:solidFill>
              <a:latin typeface="TVOCAF+MicrosoftYaHei" panose="02000500000000000000"/>
              <a:ea typeface="宋体" panose="02010600030101010101" pitchFamily="2" charset="-122"/>
            </a:endParaRPr>
          </a:p>
        </p:txBody>
      </p:sp>
      <p:sp>
        <p:nvSpPr>
          <p:cNvPr id="5130" name="object 12"/>
          <p:cNvSpPr/>
          <p:nvPr/>
        </p:nvSpPr>
        <p:spPr>
          <a:xfrm>
            <a:off x="4262438" y="4189413"/>
            <a:ext cx="7077075" cy="708025"/>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CN" altLang="en-US" sz="1400">
                <a:solidFill>
                  <a:srgbClr val="595959"/>
                </a:solidFill>
                <a:latin typeface="Times New Roman" panose="02020603050405020304"/>
              </a:rPr>
              <a:t>联邦推荐的性能问题</a:t>
            </a:r>
            <a:r>
              <a:rPr lang="zh-HK" altLang="en-US" sz="1400">
                <a:solidFill>
                  <a:srgbClr val="595959"/>
                </a:solidFill>
                <a:latin typeface="TVOCAF+MicrosoftYaHei" panose="02000500000000000000"/>
              </a:rPr>
              <a:t>：</a:t>
            </a:r>
            <a:r>
              <a:rPr lang="zh-CN" altLang="zh-HK" sz="1400">
                <a:solidFill>
                  <a:srgbClr val="595959"/>
                </a:solidFill>
                <a:latin typeface="TVOCAF+MicrosoftYaHei" panose="02000500000000000000"/>
              </a:rPr>
              <a:t>现有的联邦推荐系统大多基于协同过滤</a:t>
            </a:r>
            <a:r>
              <a:rPr lang="en-US" altLang="zh-CN" sz="1400">
                <a:solidFill>
                  <a:srgbClr val="595959"/>
                </a:solidFill>
                <a:latin typeface="TVOCAF+MicrosoftYaHei" panose="02000500000000000000"/>
              </a:rPr>
              <a:t>,</a:t>
            </a:r>
            <a:r>
              <a:rPr lang="zh-CN" altLang="en-US" sz="1400">
                <a:solidFill>
                  <a:srgbClr val="595959"/>
                </a:solidFill>
                <a:latin typeface="TVOCAF+MicrosoftYaHei" panose="02000500000000000000"/>
              </a:rPr>
              <a:t>推荐效率和</a:t>
            </a:r>
            <a:endParaRPr lang="zh-CN" altLang="en-US" sz="1400">
              <a:solidFill>
                <a:srgbClr val="595959"/>
              </a:solidFill>
              <a:latin typeface="TVOCAF+MicrosoftYaHei" panose="02000500000000000000"/>
            </a:endParaRPr>
          </a:p>
          <a:p>
            <a:pPr marL="285750">
              <a:lnSpc>
                <a:spcPts val="1465"/>
              </a:lnSpc>
            </a:pPr>
            <a:r>
              <a:rPr lang="zh-CN" altLang="en-US" sz="1400">
                <a:solidFill>
                  <a:srgbClr val="595959"/>
                </a:solidFill>
                <a:latin typeface="TVOCAF+MicrosoftYaHei" panose="02000500000000000000"/>
              </a:rPr>
              <a:t>准确率都较低，未能利用知识图谱中的语义信息</a:t>
            </a:r>
            <a:r>
              <a:rPr lang="zh-HK" altLang="en-US" sz="1400">
                <a:solidFill>
                  <a:srgbClr val="595959"/>
                </a:solidFill>
                <a:latin typeface="TVOCAF+MicrosoftYaHei" panose="02000500000000000000"/>
              </a:rPr>
              <a:t>。</a:t>
            </a:r>
            <a:endParaRPr lang="zh-HK" altLang="en-US" sz="1400">
              <a:solidFill>
                <a:srgbClr val="595959"/>
              </a:solidFill>
              <a:latin typeface="TVOCAF+MicrosoftYaHei" panose="02000500000000000000"/>
            </a:endParaRPr>
          </a:p>
        </p:txBody>
      </p:sp>
      <p:sp>
        <p:nvSpPr>
          <p:cNvPr id="5131" name="object 13"/>
          <p:cNvSpPr/>
          <p:nvPr/>
        </p:nvSpPr>
        <p:spPr>
          <a:xfrm>
            <a:off x="3184525" y="4379913"/>
            <a:ext cx="827088" cy="941387"/>
          </a:xfrm>
          <a:prstGeom prst="rect">
            <a:avLst/>
          </a:prstGeom>
          <a:noFill/>
          <a:ln w="9525">
            <a:noFill/>
          </a:ln>
        </p:spPr>
        <p:txBody>
          <a:bodyPr wrap="square" lIns="0" tIns="0" rIns="0" bIns="0" anchor="t" anchorCtr="0"/>
          <a:p>
            <a:pPr>
              <a:lnSpc>
                <a:spcPts val="1940"/>
              </a:lnSpc>
            </a:pPr>
            <a:r>
              <a:rPr lang="zh-HK" altLang="en-US">
                <a:solidFill>
                  <a:srgbClr val="FFFFFF"/>
                </a:solidFill>
                <a:latin typeface="VQFMMU+MicrosoftYaHei-Bold" panose="02000500000000000000"/>
              </a:rPr>
              <a:t>存在</a:t>
            </a:r>
            <a:endParaRPr lang="zh-HK" altLang="en-US">
              <a:solidFill>
                <a:srgbClr val="FFFFFF"/>
              </a:solidFill>
              <a:latin typeface="VQFMMU+MicrosoftYaHei-Bold" panose="02000500000000000000"/>
            </a:endParaRPr>
          </a:p>
          <a:p>
            <a:pPr>
              <a:lnSpc>
                <a:spcPts val="1940"/>
              </a:lnSpc>
              <a:spcBef>
                <a:spcPts val="740"/>
              </a:spcBef>
            </a:pPr>
            <a:r>
              <a:rPr lang="zh-HK" altLang="en-US">
                <a:solidFill>
                  <a:srgbClr val="FFFFFF"/>
                </a:solidFill>
                <a:latin typeface="VQFMMU+MicrosoftYaHei-Bold" panose="02000500000000000000"/>
              </a:rPr>
              <a:t>问题</a:t>
            </a:r>
            <a:endParaRPr lang="zh-HK" altLang="en-US">
              <a:solidFill>
                <a:srgbClr val="FFFFFF"/>
              </a:solidFill>
              <a:latin typeface="VQFMMU+MicrosoftYaHei-Bold" panose="02000500000000000000"/>
            </a:endParaRPr>
          </a:p>
        </p:txBody>
      </p:sp>
      <p:sp>
        <p:nvSpPr>
          <p:cNvPr id="5132" name="object 14"/>
          <p:cNvSpPr/>
          <p:nvPr/>
        </p:nvSpPr>
        <p:spPr>
          <a:xfrm>
            <a:off x="4262438" y="4702175"/>
            <a:ext cx="7077075" cy="708025"/>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CN" altLang="en-US" sz="1400">
                <a:solidFill>
                  <a:srgbClr val="595959"/>
                </a:solidFill>
                <a:latin typeface="Times New Roman" panose="02020603050405020304"/>
              </a:rPr>
              <a:t>联邦推荐通信成本高</a:t>
            </a:r>
            <a:r>
              <a:rPr lang="en-US" altLang="zh-CN" sz="1400">
                <a:solidFill>
                  <a:srgbClr val="595959"/>
                </a:solidFill>
                <a:latin typeface="Times New Roman" panose="02020603050405020304"/>
              </a:rPr>
              <a:t>: </a:t>
            </a:r>
            <a:r>
              <a:rPr lang="zh-CN" altLang="en-US" sz="1400">
                <a:solidFill>
                  <a:srgbClr val="595959"/>
                </a:solidFill>
                <a:latin typeface="Times New Roman" panose="02020603050405020304"/>
              </a:rPr>
              <a:t>联邦学习需要在多个参与方之间频繁传递模型参数，</a:t>
            </a:r>
            <a:endParaRPr lang="zh-CN" altLang="en-US" sz="1400">
              <a:solidFill>
                <a:srgbClr val="595959"/>
              </a:solidFill>
              <a:latin typeface="Times New Roman" panose="02020603050405020304"/>
            </a:endParaRPr>
          </a:p>
          <a:p>
            <a:pPr marL="285750">
              <a:lnSpc>
                <a:spcPts val="1465"/>
              </a:lnSpc>
            </a:pPr>
            <a:r>
              <a:rPr lang="zh-CN" altLang="en-US" sz="1400">
                <a:solidFill>
                  <a:srgbClr val="595959"/>
                </a:solidFill>
                <a:latin typeface="Times New Roman" panose="02020603050405020304"/>
              </a:rPr>
              <a:t>在大规模分布式场景下，通信开销成为性能瓶颈</a:t>
            </a:r>
            <a:r>
              <a:rPr lang="zh-HK" altLang="en-US" sz="1400">
                <a:solidFill>
                  <a:srgbClr val="595959"/>
                </a:solidFill>
                <a:latin typeface="TVOCAF+MicrosoftYaHei" panose="02000500000000000000"/>
              </a:rPr>
              <a:t>。</a:t>
            </a:r>
            <a:endParaRPr lang="zh-HK" altLang="en-US" sz="1400">
              <a:solidFill>
                <a:srgbClr val="595959"/>
              </a:solidFill>
              <a:latin typeface="TVOCAF+MicrosoftYaHei" panose="02000500000000000000"/>
            </a:endParaRPr>
          </a:p>
        </p:txBody>
      </p:sp>
      <p:sp>
        <p:nvSpPr>
          <p:cNvPr id="5133" name="object 15"/>
          <p:cNvSpPr/>
          <p:nvPr/>
        </p:nvSpPr>
        <p:spPr>
          <a:xfrm>
            <a:off x="1452563" y="5680075"/>
            <a:ext cx="10352087" cy="1006475"/>
          </a:xfrm>
          <a:prstGeom prst="rect">
            <a:avLst/>
          </a:prstGeom>
          <a:noFill/>
          <a:ln w="9525">
            <a:noFill/>
          </a:ln>
        </p:spPr>
        <p:txBody>
          <a:bodyPr wrap="square" lIns="0" tIns="0" rIns="0" bIns="0" anchor="t" anchorCtr="0"/>
          <a:p>
            <a:pPr marL="368300">
              <a:lnSpc>
                <a:spcPts val="2000"/>
              </a:lnSpc>
            </a:pPr>
            <a:r>
              <a:rPr lang="zh-HK" altLang="en-US" sz="1400">
                <a:solidFill>
                  <a:srgbClr val="595959"/>
                </a:solidFill>
                <a:latin typeface="TVOCAF+MicrosoftYaHei" panose="02000500000000000000"/>
              </a:rPr>
              <a:t>本选题 </a:t>
            </a:r>
            <a:r>
              <a:rPr lang="en-US" altLang="zh-HK" sz="1400">
                <a:solidFill>
                  <a:srgbClr val="595959"/>
                </a:solidFill>
                <a:latin typeface="TVOCAF+MicrosoftYaHei" panose="02000500000000000000"/>
              </a:rPr>
              <a:t>(1)</a:t>
            </a:r>
            <a:r>
              <a:rPr lang="zh-HK" altLang="en-US" sz="1400">
                <a:solidFill>
                  <a:srgbClr val="595959"/>
                </a:solidFill>
                <a:latin typeface="TVOCAF+MicrosoftYaHei" panose="02000500000000000000"/>
              </a:rPr>
              <a:t>设计并实现一种基于</a:t>
            </a:r>
            <a:r>
              <a:rPr lang="zh-HK" altLang="en-US" sz="1400" b="1">
                <a:solidFill>
                  <a:srgbClr val="595959"/>
                </a:solidFill>
                <a:latin typeface="TVOCAF+MicrosoftYaHei" panose="02000500000000000000"/>
              </a:rPr>
              <a:t>知识图注意力网络和联邦学习</a:t>
            </a:r>
            <a:r>
              <a:rPr lang="zh-HK" altLang="en-US" sz="1400">
                <a:solidFill>
                  <a:srgbClr val="595959"/>
                </a:solidFill>
                <a:latin typeface="TVOCAF+MicrosoftYaHei" panose="02000500000000000000"/>
              </a:rPr>
              <a:t>的个性化推荐优化算法，</a:t>
            </a:r>
            <a:r>
              <a:rPr lang="zh-CN" altLang="zh-HK" sz="1400">
                <a:solidFill>
                  <a:srgbClr val="595959"/>
                </a:solidFill>
                <a:latin typeface="TVOCAF+MicrosoftYaHei" panose="02000500000000000000"/>
              </a:rPr>
              <a:t>解决用户隐私保护问题与</a:t>
            </a:r>
            <a:endParaRPr lang="zh-CN" altLang="zh-HK" sz="1400">
              <a:solidFill>
                <a:srgbClr val="595959"/>
              </a:solidFill>
              <a:latin typeface="TVOCAF+MicrosoftYaHei" panose="02000500000000000000"/>
            </a:endParaRPr>
          </a:p>
          <a:p>
            <a:pPr marL="368300">
              <a:lnSpc>
                <a:spcPts val="2000"/>
              </a:lnSpc>
            </a:pPr>
            <a:r>
              <a:rPr lang="zh-CN" altLang="zh-HK" sz="1400">
                <a:solidFill>
                  <a:srgbClr val="595959"/>
                </a:solidFill>
                <a:latin typeface="TVOCAF+MicrosoftYaHei" panose="02000500000000000000"/>
              </a:rPr>
              <a:t>提高联邦</a:t>
            </a:r>
            <a:r>
              <a:rPr lang="zh-HK" altLang="en-US" sz="1400">
                <a:solidFill>
                  <a:srgbClr val="595959"/>
                </a:solidFill>
                <a:latin typeface="TVOCAF+MicrosoftYaHei" panose="02000500000000000000"/>
              </a:rPr>
              <a:t>推荐系统</a:t>
            </a:r>
            <a:r>
              <a:rPr lang="zh-CN" altLang="zh-HK" sz="1400">
                <a:solidFill>
                  <a:srgbClr val="595959"/>
                </a:solidFill>
                <a:latin typeface="TVOCAF+MicrosoftYaHei" panose="02000500000000000000"/>
              </a:rPr>
              <a:t>推荐性能</a:t>
            </a:r>
            <a:r>
              <a:rPr lang="zh-HK" altLang="en-US" sz="1400">
                <a:solidFill>
                  <a:srgbClr val="595959"/>
                </a:solidFill>
                <a:latin typeface="TVOCAF+MicrosoftYaHei" panose="02000500000000000000"/>
              </a:rPr>
              <a:t>；</a:t>
            </a:r>
            <a:r>
              <a:rPr lang="en-US" altLang="zh-HK" sz="1400">
                <a:solidFill>
                  <a:srgbClr val="595959"/>
                </a:solidFill>
                <a:latin typeface="TVOCAF+MicrosoftYaHei" panose="02000500000000000000"/>
              </a:rPr>
              <a:t>(2)</a:t>
            </a:r>
            <a:r>
              <a:rPr lang="zh-HK" altLang="en-US" sz="1400">
                <a:solidFill>
                  <a:srgbClr val="595959"/>
                </a:solidFill>
                <a:latin typeface="TVOCAF+MicrosoftYaHei" panose="02000500000000000000"/>
              </a:rPr>
              <a:t>提出一种基于</a:t>
            </a:r>
            <a:r>
              <a:rPr lang="zh-HK" altLang="en-US" sz="1400" b="1">
                <a:solidFill>
                  <a:srgbClr val="595959"/>
                </a:solidFill>
                <a:latin typeface="TVOCAF+MicrosoftYaHei" panose="02000500000000000000"/>
              </a:rPr>
              <a:t>动态量化与自适应剪枝</a:t>
            </a:r>
            <a:r>
              <a:rPr lang="zh-HK" altLang="en-US" sz="1400">
                <a:solidFill>
                  <a:srgbClr val="595959"/>
                </a:solidFill>
                <a:latin typeface="TVOCAF+MicrosoftYaHei" panose="02000500000000000000"/>
              </a:rPr>
              <a:t>的</a:t>
            </a:r>
            <a:r>
              <a:rPr lang="zh-CN" altLang="zh-HK" sz="1400">
                <a:solidFill>
                  <a:srgbClr val="595959"/>
                </a:solidFill>
                <a:latin typeface="TVOCAF+MicrosoftYaHei" panose="02000500000000000000"/>
              </a:rPr>
              <a:t>通信成本</a:t>
            </a:r>
            <a:r>
              <a:rPr lang="zh-HK" altLang="en-US" sz="1400">
                <a:solidFill>
                  <a:srgbClr val="595959"/>
                </a:solidFill>
                <a:latin typeface="TVOCAF+MicrosoftYaHei" panose="02000500000000000000"/>
              </a:rPr>
              <a:t>优化方法</a:t>
            </a:r>
            <a:r>
              <a:rPr lang="zh-CN" altLang="zh-HK" sz="1400">
                <a:solidFill>
                  <a:srgbClr val="595959"/>
                </a:solidFill>
                <a:latin typeface="TVOCAF+MicrosoftYaHei" panose="02000500000000000000"/>
                <a:ea typeface="宋体" panose="02010600030101010101" pitchFamily="2" charset="-122"/>
              </a:rPr>
              <a:t>，</a:t>
            </a:r>
            <a:r>
              <a:rPr lang="zh-CN" altLang="zh-HK" sz="1400">
                <a:solidFill>
                  <a:srgbClr val="595959"/>
                </a:solidFill>
                <a:latin typeface="TVOCAF+MicrosoftYaHei" panose="02000500000000000000"/>
              </a:rPr>
              <a:t>来解决联邦</a:t>
            </a:r>
            <a:endParaRPr lang="zh-CN" altLang="zh-HK" sz="1400">
              <a:solidFill>
                <a:srgbClr val="595959"/>
              </a:solidFill>
              <a:latin typeface="TVOCAF+MicrosoftYaHei" panose="02000500000000000000"/>
            </a:endParaRPr>
          </a:p>
          <a:p>
            <a:pPr marL="368300">
              <a:lnSpc>
                <a:spcPts val="2000"/>
              </a:lnSpc>
            </a:pPr>
            <a:r>
              <a:rPr lang="zh-CN" altLang="zh-HK" sz="1400">
                <a:solidFill>
                  <a:srgbClr val="595959"/>
                </a:solidFill>
                <a:latin typeface="TVOCAF+MicrosoftYaHei" panose="02000500000000000000"/>
              </a:rPr>
              <a:t>推荐中的通信成本的问题。</a:t>
            </a:r>
            <a:endParaRPr lang="zh-CN" altLang="zh-HK" sz="1400">
              <a:solidFill>
                <a:srgbClr val="595959"/>
              </a:solidFill>
              <a:latin typeface="TVOCAF+MicrosoftYaHei" panose="02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5" name="object 1"/>
          <p:cNvSpPr/>
          <p:nvPr/>
        </p:nvSpPr>
        <p:spPr>
          <a:xfrm>
            <a:off x="82550" y="42863"/>
            <a:ext cx="2952750" cy="696912"/>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6146" name="object 2"/>
          <p:cNvSpPr/>
          <p:nvPr/>
        </p:nvSpPr>
        <p:spPr>
          <a:xfrm>
            <a:off x="5389563" y="673100"/>
            <a:ext cx="1127125" cy="106363"/>
          </a:xfrm>
          <a:prstGeom prst="rect">
            <a:avLst/>
          </a:prstGeom>
          <a:blipFill rotWithShape="0">
            <a:blip r:embed="rId2"/>
            <a:stretch>
              <a:fillRect/>
            </a:stretch>
          </a:blipFill>
          <a:ln w="9525">
            <a:noFill/>
          </a:ln>
        </p:spPr>
        <p:txBody>
          <a:bodyPr wrap="square" lIns="0" tIns="0" rIns="0" bIns="0" anchor="t" anchorCtr="0"/>
          <a:p>
            <a:endParaRPr lang="ru-RU" altLang="zh-HK">
              <a:latin typeface="Calibri" panose="020F0502020204030204"/>
            </a:endParaRPr>
          </a:p>
        </p:txBody>
      </p:sp>
      <p:sp>
        <p:nvSpPr>
          <p:cNvPr id="6147" name="object 3"/>
          <p:cNvSpPr/>
          <p:nvPr/>
        </p:nvSpPr>
        <p:spPr>
          <a:xfrm>
            <a:off x="668338" y="1379538"/>
            <a:ext cx="2566987" cy="4767262"/>
          </a:xfrm>
          <a:prstGeom prst="rect">
            <a:avLst/>
          </a:prstGeom>
          <a:blipFill rotWithShape="0">
            <a:blip r:embed="rId3"/>
            <a:stretch>
              <a:fillRect/>
            </a:stretch>
          </a:blipFill>
          <a:ln w="9525">
            <a:noFill/>
          </a:ln>
        </p:spPr>
        <p:txBody>
          <a:bodyPr wrap="square" lIns="0" tIns="0" rIns="0" bIns="0" anchor="t" anchorCtr="0"/>
          <a:p>
            <a:endParaRPr lang="ru-RU" altLang="zh-HK">
              <a:latin typeface="Calibri" panose="020F0502020204030204"/>
            </a:endParaRPr>
          </a:p>
        </p:txBody>
      </p:sp>
      <p:sp>
        <p:nvSpPr>
          <p:cNvPr id="6148" name="object 4"/>
          <p:cNvSpPr/>
          <p:nvPr/>
        </p:nvSpPr>
        <p:spPr>
          <a:xfrm>
            <a:off x="3302000" y="1400175"/>
            <a:ext cx="2540000" cy="4746625"/>
          </a:xfrm>
          <a:prstGeom prst="rect">
            <a:avLst/>
          </a:prstGeom>
          <a:blipFill rotWithShape="0">
            <a:blip r:embed="rId4"/>
            <a:stretch>
              <a:fillRect/>
            </a:stretch>
          </a:blipFill>
          <a:ln w="9525">
            <a:noFill/>
          </a:ln>
        </p:spPr>
        <p:txBody>
          <a:bodyPr wrap="square" lIns="0" tIns="0" rIns="0" bIns="0" anchor="t" anchorCtr="0"/>
          <a:p>
            <a:endParaRPr lang="ru-RU" altLang="zh-HK">
              <a:latin typeface="Calibri" panose="020F0502020204030204"/>
            </a:endParaRPr>
          </a:p>
        </p:txBody>
      </p:sp>
      <p:sp>
        <p:nvSpPr>
          <p:cNvPr id="6149" name="object 5"/>
          <p:cNvSpPr/>
          <p:nvPr/>
        </p:nvSpPr>
        <p:spPr>
          <a:xfrm>
            <a:off x="5967730" y="1379855"/>
            <a:ext cx="2563813" cy="4746625"/>
          </a:xfrm>
          <a:prstGeom prst="rect">
            <a:avLst/>
          </a:prstGeom>
          <a:blipFill rotWithShape="0">
            <a:blip r:embed="rId5"/>
            <a:stretch>
              <a:fillRect/>
            </a:stretch>
          </a:blipFill>
          <a:ln w="9525">
            <a:noFill/>
          </a:ln>
        </p:spPr>
        <p:txBody>
          <a:bodyPr wrap="square" lIns="0" tIns="0" rIns="0" bIns="0" anchor="t" anchorCtr="0"/>
          <a:p>
            <a:endParaRPr lang="ru-RU" altLang="zh-HK">
              <a:latin typeface="Calibri" panose="020F0502020204030204"/>
            </a:endParaRPr>
          </a:p>
        </p:txBody>
      </p:sp>
      <p:sp>
        <p:nvSpPr>
          <p:cNvPr id="6150" name="object 6"/>
          <p:cNvSpPr/>
          <p:nvPr/>
        </p:nvSpPr>
        <p:spPr>
          <a:xfrm>
            <a:off x="8672513" y="1400175"/>
            <a:ext cx="2692400" cy="4746625"/>
          </a:xfrm>
          <a:prstGeom prst="rect">
            <a:avLst/>
          </a:prstGeom>
          <a:blipFill rotWithShape="0">
            <a:blip r:embed="rId6"/>
            <a:stretch>
              <a:fillRect/>
            </a:stretch>
          </a:blipFill>
          <a:ln w="9525">
            <a:noFill/>
          </a:ln>
        </p:spPr>
        <p:txBody>
          <a:bodyPr wrap="square" lIns="0" tIns="0" rIns="0" bIns="0" anchor="t" anchorCtr="0"/>
          <a:p>
            <a:endParaRPr lang="ru-RU" altLang="zh-HK">
              <a:latin typeface="Calibri" panose="020F0502020204030204"/>
            </a:endParaRPr>
          </a:p>
        </p:txBody>
      </p:sp>
      <p:sp>
        <p:nvSpPr>
          <p:cNvPr id="6151" name="object 8"/>
          <p:cNvSpPr/>
          <p:nvPr/>
        </p:nvSpPr>
        <p:spPr>
          <a:xfrm>
            <a:off x="10344150" y="188913"/>
            <a:ext cx="1901825"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1</a:t>
            </a:r>
            <a:endParaRPr lang="en-US" altLang="zh-HK" sz="4000">
              <a:solidFill>
                <a:srgbClr val="595959"/>
              </a:solidFill>
              <a:latin typeface="LDIQCC+Impact"/>
            </a:endParaRPr>
          </a:p>
        </p:txBody>
      </p:sp>
      <p:sp>
        <p:nvSpPr>
          <p:cNvPr id="6152" name="object 9"/>
          <p:cNvSpPr/>
          <p:nvPr/>
        </p:nvSpPr>
        <p:spPr>
          <a:xfrm>
            <a:off x="4873625" y="255588"/>
            <a:ext cx="3022600" cy="903287"/>
          </a:xfrm>
          <a:prstGeom prst="rect">
            <a:avLst/>
          </a:prstGeom>
          <a:noFill/>
          <a:ln w="9525">
            <a:noFill/>
          </a:ln>
        </p:spPr>
        <p:txBody>
          <a:bodyPr wrap="square" lIns="0" tIns="0" rIns="0" bIns="0" anchor="t" anchorCtr="0"/>
          <a:p>
            <a:pPr>
              <a:lnSpc>
                <a:spcPts val="2900"/>
              </a:lnSpc>
            </a:pPr>
            <a:r>
              <a:rPr lang="zh-HK" altLang="en-US" sz="2800">
                <a:solidFill>
                  <a:srgbClr val="25303A"/>
                </a:solidFill>
                <a:latin typeface="TVOCAF+MicrosoftYaHei" panose="02000500000000000000"/>
              </a:rPr>
              <a:t>国内外研究现状</a:t>
            </a:r>
            <a:endParaRPr lang="zh-HK" altLang="en-US" sz="2800">
              <a:solidFill>
                <a:srgbClr val="25303A"/>
              </a:solidFill>
              <a:latin typeface="TVOCAF+MicrosoftYaHei" panose="02000500000000000000"/>
            </a:endParaRPr>
          </a:p>
        </p:txBody>
      </p:sp>
      <p:sp>
        <p:nvSpPr>
          <p:cNvPr id="6153" name="object 10"/>
          <p:cNvSpPr/>
          <p:nvPr/>
        </p:nvSpPr>
        <p:spPr>
          <a:xfrm>
            <a:off x="1731963" y="1866900"/>
            <a:ext cx="1350962" cy="1420813"/>
          </a:xfrm>
          <a:prstGeom prst="rect">
            <a:avLst/>
          </a:prstGeom>
          <a:noFill/>
          <a:ln w="9525">
            <a:noFill/>
          </a:ln>
        </p:spPr>
        <p:txBody>
          <a:bodyPr wrap="square" lIns="0" tIns="0" rIns="0" bIns="0" anchor="t" anchorCtr="0"/>
          <a:p>
            <a:pPr>
              <a:lnSpc>
                <a:spcPts val="4590"/>
              </a:lnSpc>
            </a:pPr>
            <a:r>
              <a:rPr lang="en-US" altLang="zh-HK" sz="4400">
                <a:solidFill>
                  <a:srgbClr val="FFFFFF"/>
                </a:solidFill>
                <a:latin typeface="LDIQCC+Impact"/>
              </a:rPr>
              <a:t>01</a:t>
            </a:r>
            <a:endParaRPr lang="en-US" altLang="zh-HK" sz="4400">
              <a:solidFill>
                <a:srgbClr val="FFFFFF"/>
              </a:solidFill>
              <a:latin typeface="LDIQCC+Impact"/>
            </a:endParaRPr>
          </a:p>
        </p:txBody>
      </p:sp>
      <p:sp>
        <p:nvSpPr>
          <p:cNvPr id="6154" name="object 11"/>
          <p:cNvSpPr/>
          <p:nvPr/>
        </p:nvSpPr>
        <p:spPr>
          <a:xfrm>
            <a:off x="4329113" y="1866900"/>
            <a:ext cx="1419225" cy="1420813"/>
          </a:xfrm>
          <a:prstGeom prst="rect">
            <a:avLst/>
          </a:prstGeom>
          <a:noFill/>
          <a:ln w="9525">
            <a:noFill/>
          </a:ln>
        </p:spPr>
        <p:txBody>
          <a:bodyPr wrap="square" lIns="0" tIns="0" rIns="0" bIns="0" anchor="t" anchorCtr="0"/>
          <a:p>
            <a:pPr>
              <a:lnSpc>
                <a:spcPts val="4590"/>
              </a:lnSpc>
            </a:pPr>
            <a:r>
              <a:rPr lang="en-US" altLang="zh-HK" sz="4400">
                <a:solidFill>
                  <a:srgbClr val="FFFFFF"/>
                </a:solidFill>
                <a:latin typeface="LDIQCC+Impact"/>
              </a:rPr>
              <a:t>02</a:t>
            </a:r>
            <a:endParaRPr lang="en-US" altLang="zh-HK" sz="4400">
              <a:solidFill>
                <a:srgbClr val="FFFFFF"/>
              </a:solidFill>
              <a:latin typeface="LDIQCC+Impact"/>
            </a:endParaRPr>
          </a:p>
        </p:txBody>
      </p:sp>
      <p:sp>
        <p:nvSpPr>
          <p:cNvPr id="6155" name="object 12"/>
          <p:cNvSpPr/>
          <p:nvPr/>
        </p:nvSpPr>
        <p:spPr>
          <a:xfrm>
            <a:off x="6986588" y="1866900"/>
            <a:ext cx="1435100" cy="1420813"/>
          </a:xfrm>
          <a:prstGeom prst="rect">
            <a:avLst/>
          </a:prstGeom>
          <a:noFill/>
          <a:ln w="9525">
            <a:noFill/>
          </a:ln>
        </p:spPr>
        <p:txBody>
          <a:bodyPr wrap="square" lIns="0" tIns="0" rIns="0" bIns="0" anchor="t" anchorCtr="0"/>
          <a:p>
            <a:pPr>
              <a:lnSpc>
                <a:spcPts val="4590"/>
              </a:lnSpc>
            </a:pPr>
            <a:r>
              <a:rPr lang="en-US" altLang="zh-HK" sz="4400">
                <a:solidFill>
                  <a:srgbClr val="FFFFFF"/>
                </a:solidFill>
                <a:latin typeface="LDIQCC+Impact"/>
              </a:rPr>
              <a:t>03</a:t>
            </a:r>
            <a:endParaRPr lang="en-US" altLang="zh-HK" sz="4400">
              <a:solidFill>
                <a:srgbClr val="FFFFFF"/>
              </a:solidFill>
              <a:latin typeface="LDIQCC+Impact"/>
            </a:endParaRPr>
          </a:p>
        </p:txBody>
      </p:sp>
      <p:sp>
        <p:nvSpPr>
          <p:cNvPr id="6156" name="object 13"/>
          <p:cNvSpPr/>
          <p:nvPr/>
        </p:nvSpPr>
        <p:spPr>
          <a:xfrm>
            <a:off x="9767888" y="1866900"/>
            <a:ext cx="1417637" cy="1420813"/>
          </a:xfrm>
          <a:prstGeom prst="rect">
            <a:avLst/>
          </a:prstGeom>
          <a:noFill/>
          <a:ln w="9525">
            <a:noFill/>
          </a:ln>
        </p:spPr>
        <p:txBody>
          <a:bodyPr wrap="square" lIns="0" tIns="0" rIns="0" bIns="0" anchor="t" anchorCtr="0"/>
          <a:p>
            <a:pPr>
              <a:lnSpc>
                <a:spcPts val="4590"/>
              </a:lnSpc>
            </a:pPr>
            <a:r>
              <a:rPr lang="en-US" altLang="zh-HK" sz="4400">
                <a:solidFill>
                  <a:srgbClr val="FFFFFF"/>
                </a:solidFill>
                <a:latin typeface="LDIQCC+Impact"/>
              </a:rPr>
              <a:t>04</a:t>
            </a:r>
            <a:endParaRPr lang="en-US" altLang="zh-HK" sz="4400">
              <a:solidFill>
                <a:srgbClr val="FFFFFF"/>
              </a:solidFill>
              <a:latin typeface="LDIQCC+Impact"/>
            </a:endParaRPr>
          </a:p>
        </p:txBody>
      </p:sp>
      <p:sp>
        <p:nvSpPr>
          <p:cNvPr id="6157" name="object 14"/>
          <p:cNvSpPr/>
          <p:nvPr/>
        </p:nvSpPr>
        <p:spPr>
          <a:xfrm>
            <a:off x="982663" y="3105150"/>
            <a:ext cx="2171700" cy="581025"/>
          </a:xfrm>
          <a:prstGeom prst="rect">
            <a:avLst/>
          </a:prstGeom>
          <a:noFill/>
          <a:ln w="9525">
            <a:noFill/>
          </a:ln>
        </p:spPr>
        <p:txBody>
          <a:bodyPr wrap="square" lIns="0" tIns="0" rIns="0" bIns="0" anchor="t" anchorCtr="0"/>
          <a:p>
            <a:pPr>
              <a:lnSpc>
                <a:spcPts val="1875"/>
              </a:lnSpc>
            </a:pPr>
            <a:r>
              <a:rPr lang="zh-CN" altLang="zh-HK">
                <a:solidFill>
                  <a:srgbClr val="595959"/>
                </a:solidFill>
                <a:latin typeface="VQFMMU+MicrosoftYaHei-Bold" panose="02000500000000000000"/>
              </a:rPr>
              <a:t>联邦</a:t>
            </a:r>
            <a:r>
              <a:rPr lang="zh-HK" altLang="en-US">
                <a:solidFill>
                  <a:srgbClr val="595959"/>
                </a:solidFill>
                <a:latin typeface="VQFMMU+MicrosoftYaHei-Bold" panose="02000500000000000000"/>
              </a:rPr>
              <a:t>推荐系统的研究</a:t>
            </a:r>
            <a:endParaRPr lang="zh-HK" altLang="en-US">
              <a:solidFill>
                <a:srgbClr val="595959"/>
              </a:solidFill>
              <a:latin typeface="VQFMMU+MicrosoftYaHei-Bold" panose="02000500000000000000"/>
            </a:endParaRPr>
          </a:p>
        </p:txBody>
      </p:sp>
      <p:sp>
        <p:nvSpPr>
          <p:cNvPr id="6158" name="object 15"/>
          <p:cNvSpPr/>
          <p:nvPr/>
        </p:nvSpPr>
        <p:spPr>
          <a:xfrm>
            <a:off x="3614738" y="3105150"/>
            <a:ext cx="2400300" cy="581025"/>
          </a:xfrm>
          <a:prstGeom prst="rect">
            <a:avLst/>
          </a:prstGeom>
          <a:noFill/>
          <a:ln w="9525">
            <a:noFill/>
          </a:ln>
        </p:spPr>
        <p:txBody>
          <a:bodyPr wrap="square" lIns="0" tIns="0" rIns="0" bIns="0" anchor="t" anchorCtr="0"/>
          <a:p>
            <a:pPr>
              <a:lnSpc>
                <a:spcPts val="1875"/>
              </a:lnSpc>
            </a:pPr>
            <a:r>
              <a:rPr lang="zh-HK" altLang="en-US">
                <a:solidFill>
                  <a:srgbClr val="595959"/>
                </a:solidFill>
                <a:latin typeface="VQFMMU+MicrosoftYaHei-Bold" panose="02000500000000000000"/>
              </a:rPr>
              <a:t>知识图谱的推荐</a:t>
            </a:r>
            <a:r>
              <a:rPr lang="zh-CN" altLang="zh-HK">
                <a:solidFill>
                  <a:srgbClr val="595959"/>
                </a:solidFill>
                <a:latin typeface="VQFMMU+MicrosoftYaHei-Bold" panose="02000500000000000000"/>
              </a:rPr>
              <a:t>模型</a:t>
            </a:r>
            <a:endParaRPr lang="zh-CN" altLang="zh-HK">
              <a:solidFill>
                <a:srgbClr val="595959"/>
              </a:solidFill>
              <a:latin typeface="VQFMMU+MicrosoftYaHei-Bold" panose="02000500000000000000"/>
            </a:endParaRPr>
          </a:p>
        </p:txBody>
      </p:sp>
      <p:sp>
        <p:nvSpPr>
          <p:cNvPr id="6159" name="object 16"/>
          <p:cNvSpPr/>
          <p:nvPr/>
        </p:nvSpPr>
        <p:spPr>
          <a:xfrm>
            <a:off x="6867525" y="3105150"/>
            <a:ext cx="1257300" cy="581025"/>
          </a:xfrm>
          <a:prstGeom prst="rect">
            <a:avLst/>
          </a:prstGeom>
          <a:noFill/>
          <a:ln w="9525">
            <a:noFill/>
          </a:ln>
        </p:spPr>
        <p:txBody>
          <a:bodyPr wrap="square" lIns="0" tIns="0" rIns="0" bIns="0" anchor="t" anchorCtr="0"/>
          <a:p>
            <a:pPr>
              <a:lnSpc>
                <a:spcPts val="1875"/>
              </a:lnSpc>
            </a:pPr>
            <a:r>
              <a:rPr lang="zh-HK" altLang="en-US">
                <a:solidFill>
                  <a:srgbClr val="595959"/>
                </a:solidFill>
                <a:latin typeface="VQFMMU+MicrosoftYaHei-Bold" panose="02000500000000000000"/>
              </a:rPr>
              <a:t>联邦推荐</a:t>
            </a:r>
            <a:endParaRPr lang="zh-HK" altLang="en-US">
              <a:solidFill>
                <a:srgbClr val="595959"/>
              </a:solidFill>
              <a:latin typeface="VQFMMU+MicrosoftYaHei-Bold" panose="02000500000000000000"/>
            </a:endParaRPr>
          </a:p>
        </p:txBody>
      </p:sp>
      <p:sp>
        <p:nvSpPr>
          <p:cNvPr id="6160" name="object 17"/>
          <p:cNvSpPr/>
          <p:nvPr/>
        </p:nvSpPr>
        <p:spPr>
          <a:xfrm>
            <a:off x="8950325" y="3105150"/>
            <a:ext cx="2660650" cy="581025"/>
          </a:xfrm>
          <a:prstGeom prst="rect">
            <a:avLst/>
          </a:prstGeom>
          <a:noFill/>
          <a:ln w="9525">
            <a:noFill/>
          </a:ln>
        </p:spPr>
        <p:txBody>
          <a:bodyPr wrap="square" lIns="0" tIns="0" rIns="0" bIns="0" anchor="t" anchorCtr="0"/>
          <a:p>
            <a:pPr>
              <a:lnSpc>
                <a:spcPts val="1875"/>
              </a:lnSpc>
            </a:pPr>
            <a:endParaRPr lang="zh-CN" altLang="zh-HK">
              <a:solidFill>
                <a:srgbClr val="595959"/>
              </a:solidFill>
              <a:latin typeface="VQFMMU+MicrosoftYaHei-Bold" panose="02000500000000000000"/>
            </a:endParaRPr>
          </a:p>
        </p:txBody>
      </p:sp>
      <p:sp>
        <p:nvSpPr>
          <p:cNvPr id="6161" name="object 18"/>
          <p:cNvSpPr/>
          <p:nvPr/>
        </p:nvSpPr>
        <p:spPr>
          <a:xfrm>
            <a:off x="766763" y="3500438"/>
            <a:ext cx="2373312" cy="773112"/>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国内</a:t>
            </a:r>
            <a:r>
              <a:rPr lang="zh-CN" altLang="zh-HK" sz="1400">
                <a:solidFill>
                  <a:srgbClr val="595959"/>
                </a:solidFill>
                <a:latin typeface="TVOCAF+MicrosoftYaHei" panose="02000500000000000000"/>
              </a:rPr>
              <a:t>联邦</a:t>
            </a:r>
            <a:r>
              <a:rPr lang="zh-HK" altLang="en-US" sz="1400">
                <a:solidFill>
                  <a:srgbClr val="595959"/>
                </a:solidFill>
                <a:latin typeface="TVOCAF+MicrosoftYaHei" panose="02000500000000000000"/>
              </a:rPr>
              <a:t>推荐领</a:t>
            </a:r>
            <a:r>
              <a:rPr lang="zh-CN" altLang="zh-HK" sz="1400">
                <a:solidFill>
                  <a:srgbClr val="595959"/>
                </a:solidFill>
                <a:latin typeface="TVOCAF+MicrosoftYaHei" panose="02000500000000000000"/>
              </a:rPr>
              <a:t>联邦推荐</a:t>
            </a:r>
            <a:r>
              <a:rPr lang="zh-HK" altLang="en-US" sz="1400">
                <a:solidFill>
                  <a:srgbClr val="595959"/>
                </a:solidFill>
                <a:latin typeface="TVOCAF+MicrosoftYaHei" panose="02000500000000000000"/>
              </a:rPr>
              <a:t>研究较少</a:t>
            </a:r>
            <a:endParaRPr lang="zh-HK" altLang="en-US" sz="1400">
              <a:solidFill>
                <a:srgbClr val="595959"/>
              </a:solidFill>
              <a:latin typeface="TVOCAF+MicrosoftYaHei" panose="02000500000000000000"/>
            </a:endParaRPr>
          </a:p>
        </p:txBody>
      </p:sp>
      <p:sp>
        <p:nvSpPr>
          <p:cNvPr id="6162" name="object 19"/>
          <p:cNvSpPr/>
          <p:nvPr/>
        </p:nvSpPr>
        <p:spPr>
          <a:xfrm>
            <a:off x="3486150" y="3429000"/>
            <a:ext cx="2170113" cy="2373313"/>
          </a:xfrm>
          <a:prstGeom prst="rect">
            <a:avLst/>
          </a:prstGeom>
          <a:noFill/>
          <a:ln w="9525">
            <a:noFill/>
          </a:ln>
        </p:spPr>
        <p:txBody>
          <a:bodyPr wrap="square" lIns="0" tIns="0" rIns="0" bIns="0" anchor="t" anchorCtr="0"/>
          <a:p>
            <a:pPr marL="285750">
              <a:lnSpc>
                <a:spcPts val="2000"/>
              </a:lnSpc>
            </a:pPr>
            <a:r>
              <a:rPr lang="en-US" altLang="zh-HK" sz="1400">
                <a:solidFill>
                  <a:srgbClr val="595959"/>
                </a:solidFill>
                <a:latin typeface="NQUUDO+Wingdings-Regular" panose="02000500000000000000"/>
              </a:rPr>
              <a:t>ü</a:t>
            </a:r>
            <a:r>
              <a:rPr lang="en-US" altLang="zh-HK" sz="1400">
                <a:latin typeface="Times New Roman" panose="02020603050405020304"/>
              </a:rPr>
              <a:t> </a:t>
            </a:r>
            <a:r>
              <a:rPr lang="en-US" altLang="zh-HK" sz="1400">
                <a:latin typeface="TVOCAF+MicrosoftYaHei" panose="02000500000000000000"/>
              </a:rPr>
              <a:t>KGAT </a:t>
            </a:r>
            <a:r>
              <a:rPr lang="zh-CN" altLang="en-US" sz="1400">
                <a:latin typeface="TVOCAF+MicrosoftYaHei" panose="02000500000000000000"/>
                <a:ea typeface="宋体" panose="02010600030101010101" pitchFamily="2" charset="-122"/>
              </a:rPr>
              <a:t>（知识图注意力网络）</a:t>
            </a:r>
            <a:r>
              <a:rPr lang="zh-HK" altLang="en-US" sz="1400">
                <a:latin typeface="TVOCAF+MicrosoftYaHei" panose="02000500000000000000"/>
              </a:rPr>
              <a:t>利用图神经网络和注意力机制，</a:t>
            </a:r>
            <a:r>
              <a:rPr lang="zh-CN" altLang="zh-HK" sz="1400">
                <a:latin typeface="TVOCAF+MicrosoftYaHei" panose="02000500000000000000"/>
              </a:rPr>
              <a:t>捕捉了知识图谱的高阶语义信息。</a:t>
            </a:r>
            <a:endParaRPr lang="zh-CN" altLang="zh-HK" sz="1400">
              <a:latin typeface="TVOCAF+MicrosoftYaHei" panose="02000500000000000000"/>
            </a:endParaRPr>
          </a:p>
          <a:p>
            <a:pPr marL="285750">
              <a:lnSpc>
                <a:spcPts val="1465"/>
              </a:lnSpc>
            </a:pPr>
            <a:endParaRPr lang="zh-HK" altLang="en-US" sz="1400">
              <a:solidFill>
                <a:srgbClr val="C00000"/>
              </a:solidFill>
              <a:latin typeface="TVOCAF+MicrosoftYaHei" panose="02000500000000000000"/>
            </a:endParaRPr>
          </a:p>
          <a:p>
            <a:pPr marL="285750">
              <a:lnSpc>
                <a:spcPct val="125000"/>
              </a:lnSpc>
            </a:pPr>
            <a:r>
              <a:rPr lang="en-US" altLang="zh-HK" sz="1400">
                <a:solidFill>
                  <a:srgbClr val="595959"/>
                </a:solidFill>
                <a:latin typeface="NQUUDO+Wingdings-Regular" panose="02000500000000000000"/>
              </a:rPr>
              <a:t>ü</a:t>
            </a:r>
            <a:r>
              <a:rPr lang="en-US" altLang="zh-HK" sz="1400">
                <a:latin typeface="Times New Roman" panose="02020603050405020304"/>
              </a:rPr>
              <a:t> </a:t>
            </a:r>
            <a:r>
              <a:rPr lang="zh-CN" altLang="en-US" sz="1400">
                <a:latin typeface="Times New Roman" panose="02020603050405020304"/>
              </a:rPr>
              <a:t>联邦推荐系统，大多采用</a:t>
            </a:r>
            <a:r>
              <a:rPr lang="en-US" altLang="zh-CN" sz="1400">
                <a:latin typeface="Times New Roman" panose="02020603050405020304"/>
              </a:rPr>
              <a:t>GNN</a:t>
            </a:r>
            <a:r>
              <a:rPr lang="zh-CN" altLang="en-US" sz="1400">
                <a:latin typeface="Times New Roman" panose="02020603050405020304"/>
                <a:ea typeface="宋体" panose="02010600030101010101" pitchFamily="2" charset="-122"/>
              </a:rPr>
              <a:t>，没有对不同客户端添加注意力机制</a:t>
            </a:r>
            <a:endParaRPr lang="zh-HK" altLang="en-US" sz="1400">
              <a:solidFill>
                <a:srgbClr val="C00000"/>
              </a:solidFill>
              <a:latin typeface="TVOCAF+MicrosoftYaHei" panose="02000500000000000000"/>
            </a:endParaRPr>
          </a:p>
          <a:p>
            <a:pPr marL="285750">
              <a:lnSpc>
                <a:spcPts val="1465"/>
              </a:lnSpc>
            </a:pPr>
            <a:endParaRPr lang="zh-HK" altLang="en-US" sz="1400">
              <a:solidFill>
                <a:srgbClr val="C00000"/>
              </a:solidFill>
              <a:latin typeface="TVOCAF+MicrosoftYaHei" panose="02000500000000000000"/>
            </a:endParaRPr>
          </a:p>
        </p:txBody>
      </p:sp>
      <p:sp>
        <p:nvSpPr>
          <p:cNvPr id="6163" name="object 20"/>
          <p:cNvSpPr/>
          <p:nvPr/>
        </p:nvSpPr>
        <p:spPr>
          <a:xfrm>
            <a:off x="6253163" y="3503613"/>
            <a:ext cx="2552700" cy="1733550"/>
          </a:xfrm>
          <a:prstGeom prst="rect">
            <a:avLst/>
          </a:prstGeom>
          <a:noFill/>
          <a:ln w="9525">
            <a:noFill/>
          </a:ln>
        </p:spPr>
        <p:txBody>
          <a:bodyPr wrap="square" lIns="0" tIns="0" rIns="0" bIns="0" anchor="t" anchorCtr="0"/>
          <a:p>
            <a:pPr marL="284480">
              <a:lnSpc>
                <a:spcPct val="125000"/>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现有的</a:t>
            </a:r>
            <a:r>
              <a:rPr lang="zh-CN" altLang="zh-HK" sz="1400">
                <a:solidFill>
                  <a:srgbClr val="595959"/>
                </a:solidFill>
                <a:latin typeface="TVOCAF+MicrosoftYaHei" panose="02000500000000000000"/>
              </a:rPr>
              <a:t>联邦</a:t>
            </a:r>
            <a:r>
              <a:rPr lang="zh-HK" altLang="en-US" sz="1400">
                <a:solidFill>
                  <a:srgbClr val="595959"/>
                </a:solidFill>
                <a:latin typeface="TVOCAF+MicrosoftYaHei" panose="02000500000000000000"/>
              </a:rPr>
              <a:t>推荐系统</a:t>
            </a:r>
            <a:endParaRPr lang="zh-HK" altLang="en-US" sz="1400">
              <a:solidFill>
                <a:srgbClr val="595959"/>
              </a:solidFill>
              <a:latin typeface="TVOCAF+MicrosoftYaHei" panose="02000500000000000000"/>
            </a:endParaRPr>
          </a:p>
          <a:p>
            <a:pPr marL="284480">
              <a:lnSpc>
                <a:spcPct val="125000"/>
              </a:lnSpc>
            </a:pPr>
            <a:r>
              <a:rPr lang="zh-HK" altLang="en-US" sz="1400">
                <a:solidFill>
                  <a:srgbClr val="595959"/>
                </a:solidFill>
                <a:latin typeface="TVOCAF+MicrosoftYaHei" panose="02000500000000000000"/>
              </a:rPr>
              <a:t>中</a:t>
            </a:r>
            <a:r>
              <a:rPr lang="zh-CN" altLang="zh-HK" sz="1400">
                <a:solidFill>
                  <a:srgbClr val="595959"/>
                </a:solidFill>
                <a:latin typeface="TVOCAF+MicrosoftYaHei" panose="02000500000000000000"/>
              </a:rPr>
              <a:t>的研究内容主要有</a:t>
            </a:r>
            <a:r>
              <a:rPr lang="zh-HK" altLang="en-US" sz="1400">
                <a:solidFill>
                  <a:srgbClr val="595959"/>
                </a:solidFill>
                <a:latin typeface="TVOCAF+MicrosoftYaHei" panose="02000500000000000000"/>
              </a:rPr>
              <a:t>：</a:t>
            </a:r>
            <a:endParaRPr lang="zh-HK" altLang="en-US" sz="1400">
              <a:solidFill>
                <a:srgbClr val="595959"/>
              </a:solidFill>
              <a:latin typeface="TVOCAF+MicrosoftYaHei" panose="02000500000000000000"/>
            </a:endParaRPr>
          </a:p>
          <a:p>
            <a:pPr marL="284480">
              <a:lnSpc>
                <a:spcPct val="125000"/>
              </a:lnSpc>
            </a:pPr>
            <a:r>
              <a:rPr lang="zh-HK" altLang="en-US" sz="1400">
                <a:solidFill>
                  <a:srgbClr val="595959"/>
                </a:solidFill>
                <a:latin typeface="TVOCAF+MicrosoftYaHei" panose="02000500000000000000"/>
              </a:rPr>
              <a:t>隐私保护</a:t>
            </a:r>
            <a:r>
              <a:rPr lang="zh-CN" altLang="zh-HK" sz="1400">
                <a:solidFill>
                  <a:srgbClr val="595959"/>
                </a:solidFill>
                <a:latin typeface="TVOCAF+MicrosoftYaHei" panose="02000500000000000000"/>
              </a:rPr>
              <a:t>、</a:t>
            </a:r>
            <a:r>
              <a:rPr lang="zh-HK" altLang="en-US" sz="1400">
                <a:solidFill>
                  <a:srgbClr val="595959"/>
                </a:solidFill>
                <a:latin typeface="TVOCAF+MicrosoftYaHei" panose="02000500000000000000"/>
              </a:rPr>
              <a:t>通信效率优</a:t>
            </a:r>
            <a:endParaRPr lang="zh-HK" altLang="en-US" sz="1400">
              <a:solidFill>
                <a:srgbClr val="595959"/>
              </a:solidFill>
              <a:latin typeface="TVOCAF+MicrosoftYaHei" panose="02000500000000000000"/>
            </a:endParaRPr>
          </a:p>
          <a:p>
            <a:pPr marL="284480">
              <a:lnSpc>
                <a:spcPct val="125000"/>
              </a:lnSpc>
            </a:pPr>
            <a:r>
              <a:rPr lang="zh-HK" altLang="en-US" sz="1400">
                <a:solidFill>
                  <a:srgbClr val="595959"/>
                </a:solidFill>
                <a:latin typeface="TVOCAF+MicrosoftYaHei" panose="02000500000000000000"/>
              </a:rPr>
              <a:t>化</a:t>
            </a:r>
            <a:r>
              <a:rPr lang="zh-CN" altLang="zh-HK" sz="1400">
                <a:solidFill>
                  <a:srgbClr val="595959"/>
                </a:solidFill>
                <a:latin typeface="TVOCAF+MicrosoftYaHei" panose="02000500000000000000"/>
              </a:rPr>
              <a:t>、</a:t>
            </a:r>
            <a:r>
              <a:rPr lang="zh-HK" altLang="en-US" sz="1400">
                <a:solidFill>
                  <a:srgbClr val="595959"/>
                </a:solidFill>
                <a:latin typeface="TVOCAF+MicrosoftYaHei" panose="02000500000000000000"/>
              </a:rPr>
              <a:t>推荐性能提升</a:t>
            </a:r>
            <a:r>
              <a:rPr lang="zh-CN" altLang="zh-HK" sz="1400">
                <a:solidFill>
                  <a:srgbClr val="595959"/>
                </a:solidFill>
                <a:latin typeface="TVOCAF+MicrosoftYaHei" panose="02000500000000000000"/>
              </a:rPr>
              <a:t>等</a:t>
            </a:r>
            <a:r>
              <a:rPr lang="zh-HK" altLang="en-US" sz="1400">
                <a:solidFill>
                  <a:srgbClr val="595959"/>
                </a:solidFill>
                <a:latin typeface="TVOCAF+MicrosoftYaHei" panose="02000500000000000000"/>
              </a:rPr>
              <a:t>。</a:t>
            </a:r>
            <a:endParaRPr lang="zh-HK" altLang="en-US" sz="1400">
              <a:solidFill>
                <a:srgbClr val="595959"/>
              </a:solidFill>
              <a:latin typeface="TVOCAF+MicrosoftYaHei" panose="02000500000000000000"/>
            </a:endParaRPr>
          </a:p>
        </p:txBody>
      </p:sp>
      <p:sp>
        <p:nvSpPr>
          <p:cNvPr id="6164" name="object 21"/>
          <p:cNvSpPr/>
          <p:nvPr/>
        </p:nvSpPr>
        <p:spPr>
          <a:xfrm>
            <a:off x="8759825" y="3500438"/>
            <a:ext cx="2579688" cy="2052637"/>
          </a:xfrm>
          <a:prstGeom prst="rect">
            <a:avLst/>
          </a:prstGeom>
          <a:noFill/>
          <a:ln w="9525">
            <a:noFill/>
          </a:ln>
        </p:spPr>
        <p:txBody>
          <a:bodyPr wrap="square" lIns="0" tIns="0" rIns="0" bIns="0" anchor="t" anchorCtr="0"/>
          <a:p>
            <a:pPr marL="285750">
              <a:lnSpc>
                <a:spcPts val="2000"/>
              </a:lnSpc>
            </a:pPr>
            <a:r>
              <a:rPr lang="en-US" altLang="zh-HK" sz="1400">
                <a:solidFill>
                  <a:srgbClr val="595959"/>
                </a:solidFill>
                <a:latin typeface="NQUUDO+Wingdings-Regular" panose="02000500000000000000"/>
              </a:rPr>
              <a:t>ü</a:t>
            </a:r>
            <a:r>
              <a:rPr lang="zh-HK" altLang="en-US" sz="1400">
                <a:latin typeface="NQUUDO+Wingdings-Regular" panose="02000500000000000000"/>
              </a:rPr>
              <a:t>常见的方法包括模型压缩（如量化和剪枝）、通信频率优化（如减少通信轮次和异步更新）、数据压缩与稀疏表示（如稀疏编码和差分压缩）</a:t>
            </a:r>
            <a:endParaRPr lang="zh-HK" altLang="en-US" sz="1400">
              <a:latin typeface="NQUUDO+Wingdings-Regular" panose="02000500000000000000"/>
            </a:endParaRPr>
          </a:p>
          <a:p>
            <a:pPr marL="285750">
              <a:lnSpc>
                <a:spcPts val="1465"/>
              </a:lnSpc>
            </a:pPr>
            <a:endParaRPr lang="zh-HK" altLang="en-US" sz="1400">
              <a:latin typeface="NQUUDO+Wingdings-Regular" panose="02000500000000000000"/>
            </a:endParaRPr>
          </a:p>
          <a:p>
            <a:pPr marL="285750">
              <a:lnSpc>
                <a:spcPts val="2000"/>
              </a:lnSpc>
            </a:pPr>
            <a:r>
              <a:rPr lang="en-US" altLang="zh-HK" sz="1400">
                <a:latin typeface="NQUUDO+Wingdings-Regular" panose="02000500000000000000"/>
              </a:rPr>
              <a:t>ü</a:t>
            </a:r>
            <a:r>
              <a:rPr lang="en-US" altLang="zh-HK" sz="1400">
                <a:latin typeface="Times New Roman" panose="02020603050405020304"/>
              </a:rPr>
              <a:t> </a:t>
            </a:r>
            <a:r>
              <a:rPr lang="zh-CN" altLang="en-US" sz="1400">
                <a:latin typeface="Times New Roman" panose="02020603050405020304"/>
              </a:rPr>
              <a:t>问题</a:t>
            </a:r>
            <a:r>
              <a:rPr lang="en-US" altLang="zh-CN" sz="1400">
                <a:latin typeface="Times New Roman" panose="02020603050405020304"/>
              </a:rPr>
              <a:t>:</a:t>
            </a:r>
            <a:r>
              <a:rPr lang="zh-HK" altLang="en-US" sz="1400">
                <a:latin typeface="TVOCAF+MicrosoftYaHei" panose="02000500000000000000"/>
              </a:rPr>
              <a:t>量化技术</a:t>
            </a:r>
            <a:r>
              <a:rPr lang="zh-CN" altLang="zh-HK" sz="1400">
                <a:latin typeface="TVOCAF+MicrosoftYaHei" panose="02000500000000000000"/>
              </a:rPr>
              <a:t>使用</a:t>
            </a:r>
            <a:r>
              <a:rPr lang="zh-CN" altLang="zh-HK" sz="1400">
                <a:solidFill>
                  <a:srgbClr val="C00000"/>
                </a:solidFill>
                <a:latin typeface="TVOCAF+MicrosoftYaHei" panose="02000500000000000000"/>
              </a:rPr>
              <a:t>固定精度</a:t>
            </a:r>
            <a:r>
              <a:rPr lang="zh-CN" altLang="zh-HK" sz="1400">
                <a:latin typeface="TVOCAF+MicrosoftYaHei" panose="02000500000000000000"/>
              </a:rPr>
              <a:t>、剪枝无法适应</a:t>
            </a:r>
            <a:r>
              <a:rPr lang="zh-CN" altLang="zh-HK" sz="1400">
                <a:solidFill>
                  <a:srgbClr val="C00000"/>
                </a:solidFill>
                <a:latin typeface="TVOCAF+MicrosoftYaHei" panose="02000500000000000000"/>
              </a:rPr>
              <a:t>不同训练阶段</a:t>
            </a:r>
            <a:r>
              <a:rPr lang="zh-CN" altLang="zh-HK" sz="1400">
                <a:latin typeface="TVOCAF+MicrosoftYaHei" panose="02000500000000000000"/>
              </a:rPr>
              <a:t>的变化。</a:t>
            </a:r>
            <a:endParaRPr lang="zh-CN" altLang="zh-HK" sz="1400">
              <a:latin typeface="TVOCAF+MicrosoftYaHei" panose="02000500000000000000"/>
            </a:endParaRPr>
          </a:p>
        </p:txBody>
      </p:sp>
      <p:sp>
        <p:nvSpPr>
          <p:cNvPr id="6165" name="object 22"/>
          <p:cNvSpPr/>
          <p:nvPr/>
        </p:nvSpPr>
        <p:spPr>
          <a:xfrm>
            <a:off x="801688" y="4143375"/>
            <a:ext cx="2373312" cy="1092200"/>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大多需要大量用户</a:t>
            </a:r>
            <a:r>
              <a:rPr lang="zh-CN" altLang="zh-HK" sz="1400">
                <a:solidFill>
                  <a:srgbClr val="595959"/>
                </a:solidFill>
                <a:latin typeface="TVOCAF+MicrosoftYaHei" panose="02000500000000000000"/>
              </a:rPr>
              <a:t>上传大量</a:t>
            </a:r>
            <a:r>
              <a:rPr lang="zh-HK" altLang="en-US" sz="1400">
                <a:solidFill>
                  <a:srgbClr val="595959"/>
                </a:solidFill>
                <a:latin typeface="TVOCAF+MicrosoftYaHei" panose="02000500000000000000"/>
              </a:rPr>
              <a:t>个人数据来构建用户画像，</a:t>
            </a:r>
            <a:r>
              <a:rPr lang="zh-CN" altLang="zh-HK" sz="1400">
                <a:solidFill>
                  <a:srgbClr val="595959"/>
                </a:solidFill>
                <a:latin typeface="TVOCAF+MicrosoftYaHei" panose="02000500000000000000"/>
              </a:rPr>
              <a:t>缺少对隐私信息的保护，也</a:t>
            </a:r>
            <a:r>
              <a:rPr lang="zh-HK" altLang="en-US" sz="1400">
                <a:solidFill>
                  <a:srgbClr val="595959"/>
                </a:solidFill>
                <a:latin typeface="TVOCAF+MicrosoftYaHei" panose="02000500000000000000"/>
              </a:rPr>
              <a:t>缺乏</a:t>
            </a:r>
            <a:r>
              <a:rPr lang="zh-CN" altLang="zh-HK" sz="1400">
                <a:solidFill>
                  <a:srgbClr val="595959"/>
                </a:solidFill>
                <a:latin typeface="TVOCAF+MicrosoftYaHei" panose="02000500000000000000"/>
              </a:rPr>
              <a:t>知识图谱的语义关联。</a:t>
            </a:r>
            <a:endParaRPr lang="zh-CN" altLang="zh-HK" sz="1400">
              <a:solidFill>
                <a:srgbClr val="595959"/>
              </a:solidFill>
              <a:latin typeface="TVOCAF+MicrosoftYaHei" panose="02000500000000000000"/>
            </a:endParaRPr>
          </a:p>
          <a:p>
            <a:pPr marL="285750">
              <a:lnSpc>
                <a:spcPts val="1465"/>
              </a:lnSpc>
            </a:pPr>
            <a:endParaRPr lang="zh-HK" altLang="en-US" sz="1400">
              <a:solidFill>
                <a:srgbClr val="595959"/>
              </a:solidFill>
              <a:latin typeface="TVOCAF+MicrosoftYaHei" panose="02000500000000000000"/>
            </a:endParaRPr>
          </a:p>
          <a:p>
            <a:pPr marL="285750">
              <a:lnSpc>
                <a:spcPts val="1465"/>
              </a:lnSpc>
            </a:pPr>
            <a:endParaRPr lang="zh-HK" altLang="en-US" sz="1400">
              <a:solidFill>
                <a:srgbClr val="595959"/>
              </a:solidFill>
              <a:latin typeface="TVOCAF+MicrosoftYaHei" panose="02000500000000000000"/>
            </a:endParaRPr>
          </a:p>
        </p:txBody>
      </p:sp>
      <p:sp>
        <p:nvSpPr>
          <p:cNvPr id="6166" name="object 23"/>
          <p:cNvSpPr/>
          <p:nvPr/>
        </p:nvSpPr>
        <p:spPr>
          <a:xfrm>
            <a:off x="801688" y="5229225"/>
            <a:ext cx="2373312" cy="773113"/>
          </a:xfrm>
          <a:prstGeom prst="rect">
            <a:avLst/>
          </a:prstGeom>
          <a:noFill/>
          <a:ln w="9525">
            <a:noFill/>
          </a:ln>
        </p:spPr>
        <p:txBody>
          <a:bodyPr wrap="square" lIns="0" tIns="0" rIns="0" bIns="0" anchor="t" anchorCtr="0"/>
          <a:p>
            <a:pPr marL="285750">
              <a:lnSpc>
                <a:spcPts val="1465"/>
              </a:lnSpc>
            </a:pPr>
            <a:r>
              <a:rPr lang="en-US" altLang="zh-HK" sz="1400">
                <a:solidFill>
                  <a:srgbClr val="595959"/>
                </a:solidFill>
                <a:latin typeface="NQUUDO+Wingdings-Regular" panose="02000500000000000000"/>
              </a:rPr>
              <a:t>ü</a:t>
            </a:r>
            <a:r>
              <a:rPr lang="en-US" altLang="zh-HK" sz="1400">
                <a:solidFill>
                  <a:srgbClr val="595959"/>
                </a:solidFill>
                <a:latin typeface="Times New Roman" panose="02020603050405020304"/>
              </a:rPr>
              <a:t> </a:t>
            </a:r>
            <a:r>
              <a:rPr lang="zh-HK" altLang="en-US" sz="1400">
                <a:solidFill>
                  <a:srgbClr val="595959"/>
                </a:solidFill>
                <a:latin typeface="TVOCAF+MicrosoftYaHei" panose="02000500000000000000"/>
              </a:rPr>
              <a:t>存在</a:t>
            </a:r>
            <a:r>
              <a:rPr lang="zh-CN" altLang="zh-HK" sz="1400">
                <a:solidFill>
                  <a:srgbClr val="C00000"/>
                </a:solidFill>
                <a:latin typeface="TVOCAF+MicrosoftYaHei" panose="02000500000000000000"/>
              </a:rPr>
              <a:t>隐私泄漏</a:t>
            </a:r>
            <a:r>
              <a:rPr lang="zh-CN" altLang="zh-HK" sz="1400">
                <a:latin typeface="TVOCAF+MicrosoftYaHei" panose="02000500000000000000"/>
              </a:rPr>
              <a:t>的问题</a:t>
            </a:r>
            <a:endParaRPr lang="zh-CN" altLang="zh-HK" sz="1400">
              <a:latin typeface="TVOCAF+MicrosoftYaHei" panose="02000500000000000000"/>
            </a:endParaRPr>
          </a:p>
        </p:txBody>
      </p:sp>
      <p:sp>
        <p:nvSpPr>
          <p:cNvPr id="6167" name="object 24"/>
          <p:cNvSpPr/>
          <p:nvPr/>
        </p:nvSpPr>
        <p:spPr>
          <a:xfrm>
            <a:off x="6238875" y="4797425"/>
            <a:ext cx="2373313" cy="773113"/>
          </a:xfrm>
          <a:prstGeom prst="rect">
            <a:avLst/>
          </a:prstGeom>
          <a:noFill/>
          <a:ln w="9525">
            <a:noFill/>
          </a:ln>
        </p:spPr>
        <p:txBody>
          <a:bodyPr wrap="square" lIns="0" tIns="0" rIns="0" bIns="0" anchor="t" anchorCtr="0"/>
          <a:p>
            <a:pPr marL="284480">
              <a:lnSpc>
                <a:spcPts val="2000"/>
              </a:lnSpc>
            </a:pPr>
            <a:r>
              <a:rPr lang="en-US" altLang="zh-HK" sz="1400">
                <a:solidFill>
                  <a:srgbClr val="C00000"/>
                </a:solidFill>
                <a:latin typeface="NQUUDO+Wingdings-Regular" panose="02000500000000000000"/>
              </a:rPr>
              <a:t>ü</a:t>
            </a:r>
            <a:r>
              <a:rPr lang="en-US" altLang="zh-HK" sz="1400">
                <a:solidFill>
                  <a:srgbClr val="C00000"/>
                </a:solidFill>
                <a:latin typeface="Times New Roman" panose="02020603050405020304"/>
              </a:rPr>
              <a:t> </a:t>
            </a:r>
            <a:r>
              <a:rPr lang="zh-HK" altLang="en-US" sz="1400">
                <a:solidFill>
                  <a:srgbClr val="C00000"/>
                </a:solidFill>
                <a:latin typeface="TVOCAF+MicrosoftYaHei" panose="02000500000000000000"/>
              </a:rPr>
              <a:t>优势</a:t>
            </a:r>
            <a:r>
              <a:rPr lang="zh-HK" altLang="en-US" sz="1400">
                <a:solidFill>
                  <a:srgbClr val="595959"/>
                </a:solidFill>
                <a:latin typeface="TVOCAF+MicrosoftYaHei" panose="02000500000000000000"/>
              </a:rPr>
              <a:t>：</a:t>
            </a:r>
            <a:r>
              <a:rPr lang="zh-CN" altLang="zh-HK" sz="1400">
                <a:solidFill>
                  <a:srgbClr val="595959"/>
                </a:solidFill>
                <a:latin typeface="TVOCAF+MicrosoftYaHei" panose="02000500000000000000"/>
              </a:rPr>
              <a:t>能够有效保护</a:t>
            </a:r>
            <a:endParaRPr lang="zh-CN" altLang="zh-HK" sz="1400">
              <a:solidFill>
                <a:srgbClr val="595959"/>
              </a:solidFill>
              <a:latin typeface="TVOCAF+MicrosoftYaHei" panose="02000500000000000000"/>
            </a:endParaRPr>
          </a:p>
          <a:p>
            <a:pPr marL="284480">
              <a:lnSpc>
                <a:spcPts val="2000"/>
              </a:lnSpc>
            </a:pPr>
            <a:r>
              <a:rPr lang="zh-CN" altLang="zh-HK" sz="1400">
                <a:solidFill>
                  <a:srgbClr val="595959"/>
                </a:solidFill>
                <a:latin typeface="TVOCAF+MicrosoftYaHei" panose="02000500000000000000"/>
              </a:rPr>
              <a:t>用户隐私。</a:t>
            </a:r>
            <a:endParaRPr lang="zh-CN" altLang="zh-HK" sz="1400">
              <a:solidFill>
                <a:srgbClr val="595959"/>
              </a:solidFill>
              <a:latin typeface="TVOCAF+MicrosoftYaHei" panose="02000500000000000000"/>
            </a:endParaRPr>
          </a:p>
        </p:txBody>
      </p:sp>
      <p:sp>
        <p:nvSpPr>
          <p:cNvPr id="6168" name="object 16"/>
          <p:cNvSpPr/>
          <p:nvPr/>
        </p:nvSpPr>
        <p:spPr>
          <a:xfrm>
            <a:off x="9493250" y="3105150"/>
            <a:ext cx="1476375" cy="581025"/>
          </a:xfrm>
          <a:prstGeom prst="rect">
            <a:avLst/>
          </a:prstGeom>
          <a:noFill/>
          <a:ln w="9525">
            <a:noFill/>
          </a:ln>
        </p:spPr>
        <p:txBody>
          <a:bodyPr wrap="square" lIns="0" tIns="0" rIns="0" bIns="0" anchor="t" anchorCtr="0"/>
          <a:p>
            <a:pPr>
              <a:lnSpc>
                <a:spcPts val="1875"/>
              </a:lnSpc>
            </a:pPr>
            <a:r>
              <a:rPr lang="zh-CN" altLang="zh-HK">
                <a:solidFill>
                  <a:srgbClr val="595959"/>
                </a:solidFill>
                <a:latin typeface="VQFMMU+MicrosoftYaHei-Bold" panose="02000500000000000000"/>
              </a:rPr>
              <a:t>通信成本优化</a:t>
            </a:r>
            <a:endParaRPr lang="zh-CN" altLang="zh-HK">
              <a:solidFill>
                <a:srgbClr val="595959"/>
              </a:solidFill>
              <a:latin typeface="VQFMMU+MicrosoftYaHei-Bold" panose="02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169"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7170" name="object 3"/>
          <p:cNvSpPr/>
          <p:nvPr/>
        </p:nvSpPr>
        <p:spPr>
          <a:xfrm>
            <a:off x="3170238" y="2722563"/>
            <a:ext cx="5287962" cy="1936750"/>
          </a:xfrm>
          <a:prstGeom prst="rect">
            <a:avLst/>
          </a:prstGeom>
          <a:noFill/>
          <a:ln w="9525">
            <a:noFill/>
          </a:ln>
        </p:spPr>
        <p:txBody>
          <a:bodyPr wrap="square" lIns="0" tIns="0" rIns="0" bIns="0" anchor="t" anchorCtr="0"/>
          <a:p>
            <a:pPr>
              <a:lnSpc>
                <a:spcPts val="6250"/>
              </a:lnSpc>
            </a:pPr>
            <a:r>
              <a:rPr lang="en-US" altLang="zh-HK" sz="6000">
                <a:solidFill>
                  <a:srgbClr val="595959"/>
                </a:solidFill>
                <a:latin typeface="LDIQCC+Impact"/>
              </a:rPr>
              <a:t>PART 02</a:t>
            </a:r>
            <a:endParaRPr lang="en-US" altLang="zh-HK" sz="6000">
              <a:solidFill>
                <a:srgbClr val="595959"/>
              </a:solidFill>
              <a:latin typeface="LDIQCC+Impact"/>
            </a:endParaRPr>
          </a:p>
        </p:txBody>
      </p:sp>
      <p:sp>
        <p:nvSpPr>
          <p:cNvPr id="7171" name="object 4"/>
          <p:cNvSpPr/>
          <p:nvPr/>
        </p:nvSpPr>
        <p:spPr>
          <a:xfrm>
            <a:off x="3429000" y="3781425"/>
            <a:ext cx="6091238" cy="1033463"/>
          </a:xfrm>
          <a:prstGeom prst="rect">
            <a:avLst/>
          </a:prstGeom>
          <a:noFill/>
          <a:ln w="9525">
            <a:noFill/>
          </a:ln>
        </p:spPr>
        <p:txBody>
          <a:bodyPr wrap="square" lIns="0" tIns="0" rIns="0" bIns="0" anchor="t" anchorCtr="0"/>
          <a:p>
            <a:pPr>
              <a:lnSpc>
                <a:spcPts val="3340"/>
              </a:lnSpc>
            </a:pPr>
            <a:r>
              <a:rPr lang="zh-HK" altLang="en-US" sz="3200">
                <a:solidFill>
                  <a:srgbClr val="595959"/>
                </a:solidFill>
                <a:latin typeface="VQFMMU+MicrosoftYaHei-Bold" panose="02000500000000000000"/>
              </a:rPr>
              <a:t>研究目标与拟解决关键问题</a:t>
            </a:r>
            <a:endParaRPr lang="zh-HK" altLang="en-US" sz="3200">
              <a:solidFill>
                <a:srgbClr val="595959"/>
              </a:solidFill>
              <a:latin typeface="VQFMMU+MicrosoftYaHei-Bold" panose="02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193" name="object 1"/>
          <p:cNvSpPr/>
          <p:nvPr/>
        </p:nvSpPr>
        <p:spPr>
          <a:xfrm>
            <a:off x="-25400" y="-2794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8194" name="object 3"/>
          <p:cNvSpPr/>
          <p:nvPr/>
        </p:nvSpPr>
        <p:spPr>
          <a:xfrm>
            <a:off x="9983788" y="188913"/>
            <a:ext cx="1962150"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2</a:t>
            </a:r>
            <a:endParaRPr lang="en-US" altLang="zh-HK" sz="4000">
              <a:solidFill>
                <a:srgbClr val="595959"/>
              </a:solidFill>
              <a:latin typeface="LDIQCC+Impact"/>
            </a:endParaRPr>
          </a:p>
        </p:txBody>
      </p:sp>
      <p:sp>
        <p:nvSpPr>
          <p:cNvPr id="8195" name="object 4"/>
          <p:cNvSpPr/>
          <p:nvPr/>
        </p:nvSpPr>
        <p:spPr>
          <a:xfrm>
            <a:off x="4346575" y="255588"/>
            <a:ext cx="531495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研究目标与拟解决的关键问题</a:t>
            </a:r>
            <a:endParaRPr lang="zh-HK" altLang="en-US" sz="2800">
              <a:solidFill>
                <a:srgbClr val="535353"/>
              </a:solidFill>
              <a:latin typeface="TVOCAF+MicrosoftYaHei" panose="02000500000000000000"/>
            </a:endParaRPr>
          </a:p>
        </p:txBody>
      </p:sp>
      <p:sp>
        <p:nvSpPr>
          <p:cNvPr id="8196" name="object 5"/>
          <p:cNvSpPr/>
          <p:nvPr/>
        </p:nvSpPr>
        <p:spPr>
          <a:xfrm>
            <a:off x="1841500" y="1790700"/>
            <a:ext cx="1873250" cy="2319338"/>
          </a:xfrm>
          <a:prstGeom prst="rect">
            <a:avLst/>
          </a:prstGeom>
          <a:noFill/>
          <a:ln w="9525">
            <a:noFill/>
          </a:ln>
        </p:spPr>
        <p:txBody>
          <a:bodyPr wrap="square" lIns="0" tIns="0" rIns="0" bIns="0" anchor="t" anchorCtr="0"/>
          <a:p>
            <a:pPr>
              <a:lnSpc>
                <a:spcPts val="2000"/>
              </a:lnSpc>
            </a:pPr>
            <a:r>
              <a:rPr lang="zh-HK" altLang="en-US" sz="1400">
                <a:solidFill>
                  <a:srgbClr val="595959"/>
                </a:solidFill>
                <a:latin typeface="TVOCAF+MicrosoftYaHei" panose="02000500000000000000"/>
              </a:rPr>
              <a:t>针对推荐系统</a:t>
            </a:r>
            <a:r>
              <a:rPr lang="zh-CN" altLang="zh-HK" sz="1400">
                <a:solidFill>
                  <a:srgbClr val="595959"/>
                </a:solidFill>
                <a:latin typeface="TVOCAF+MicrosoftYaHei" panose="02000500000000000000"/>
              </a:rPr>
              <a:t>的隐私泄漏和</a:t>
            </a:r>
            <a:r>
              <a:rPr lang="zh-HK" altLang="en-US" sz="1400">
                <a:solidFill>
                  <a:srgbClr val="595959"/>
                </a:solidFill>
                <a:latin typeface="TVOCAF+MicrosoftYaHei" panose="02000500000000000000"/>
              </a:rPr>
              <a:t>推荐性能不足的问题，设计并实现一种基于知识图谱注意力网络和联邦学习的个性化推荐优化算法</a:t>
            </a:r>
            <a:r>
              <a:rPr lang="zh-CN" altLang="zh-HK" sz="1400">
                <a:solidFill>
                  <a:srgbClr val="595959"/>
                </a:solidFill>
                <a:latin typeface="TVOCAF+MicrosoftYaHei" panose="02000500000000000000"/>
                <a:ea typeface="宋体" panose="02010600030101010101" pitchFamily="2" charset="-122"/>
              </a:rPr>
              <a:t>。</a:t>
            </a:r>
            <a:endParaRPr lang="zh-CN" altLang="zh-HK" sz="1400">
              <a:solidFill>
                <a:srgbClr val="595959"/>
              </a:solidFill>
              <a:latin typeface="TVOCAF+MicrosoftYaHei" panose="02000500000000000000"/>
              <a:ea typeface="宋体" panose="02010600030101010101" pitchFamily="2" charset="-122"/>
            </a:endParaRPr>
          </a:p>
        </p:txBody>
      </p:sp>
      <p:sp>
        <p:nvSpPr>
          <p:cNvPr id="8197" name="object 6"/>
          <p:cNvSpPr/>
          <p:nvPr/>
        </p:nvSpPr>
        <p:spPr>
          <a:xfrm>
            <a:off x="3959225" y="1771650"/>
            <a:ext cx="2028825" cy="977900"/>
          </a:xfrm>
          <a:prstGeom prst="rect">
            <a:avLst/>
          </a:prstGeom>
          <a:noFill/>
          <a:ln w="9525">
            <a:noFill/>
          </a:ln>
        </p:spPr>
        <p:txBody>
          <a:bodyPr wrap="square" lIns="0" tIns="0" rIns="0" bIns="0" anchor="t" anchorCtr="0"/>
          <a:p>
            <a:pPr>
              <a:lnSpc>
                <a:spcPts val="2000"/>
              </a:lnSpc>
            </a:pPr>
            <a:r>
              <a:rPr lang="zh-HK" altLang="en-US" sz="1400">
                <a:solidFill>
                  <a:srgbClr val="595959"/>
                </a:solidFill>
                <a:latin typeface="TVOCAF+MicrosoftYaHei" panose="02000500000000000000"/>
              </a:rPr>
              <a:t>针对</a:t>
            </a:r>
            <a:r>
              <a:rPr lang="zh-CN" altLang="zh-HK" sz="1400">
                <a:solidFill>
                  <a:srgbClr val="595959"/>
                </a:solidFill>
                <a:latin typeface="TVOCAF+MicrosoftYaHei" panose="02000500000000000000"/>
              </a:rPr>
              <a:t>联邦推荐的通信成本</a:t>
            </a:r>
            <a:r>
              <a:rPr lang="zh-HK" altLang="en-US" sz="1400">
                <a:solidFill>
                  <a:srgbClr val="595959"/>
                </a:solidFill>
                <a:latin typeface="TVOCAF+MicrosoftYaHei" panose="02000500000000000000"/>
              </a:rPr>
              <a:t>问题，</a:t>
            </a:r>
            <a:r>
              <a:rPr lang="zh-CN" altLang="zh-HK" sz="1400">
                <a:solidFill>
                  <a:srgbClr val="595959"/>
                </a:solidFill>
                <a:latin typeface="TVOCAF+MicrosoftYaHei" panose="02000500000000000000"/>
              </a:rPr>
              <a:t>提出并设计了一种</a:t>
            </a:r>
            <a:r>
              <a:rPr lang="zh-HK" altLang="en-US" sz="1400">
                <a:solidFill>
                  <a:srgbClr val="595959"/>
                </a:solidFill>
                <a:latin typeface="TVOCAF+MicrosoftYaHei" panose="02000500000000000000"/>
              </a:rPr>
              <a:t>基于动态量化与自适应剪枝的联邦学习优化方法</a:t>
            </a:r>
            <a:r>
              <a:rPr lang="zh-CN" altLang="zh-HK" sz="1400">
                <a:solidFill>
                  <a:srgbClr val="595959"/>
                </a:solidFill>
                <a:latin typeface="TVOCAF+MicrosoftYaHei" panose="02000500000000000000"/>
                <a:ea typeface="宋体" panose="02010600030101010101" pitchFamily="2" charset="-122"/>
              </a:rPr>
              <a:t>。</a:t>
            </a:r>
            <a:endParaRPr lang="zh-CN" altLang="zh-HK" sz="1400">
              <a:solidFill>
                <a:srgbClr val="595959"/>
              </a:solidFill>
              <a:latin typeface="TVOCAF+MicrosoftYaHei" panose="02000500000000000000"/>
              <a:ea typeface="宋体" panose="02010600030101010101" pitchFamily="2" charset="-122"/>
            </a:endParaRPr>
          </a:p>
        </p:txBody>
      </p:sp>
      <p:sp>
        <p:nvSpPr>
          <p:cNvPr id="8198" name="object 7"/>
          <p:cNvSpPr/>
          <p:nvPr/>
        </p:nvSpPr>
        <p:spPr>
          <a:xfrm>
            <a:off x="8199438" y="1790700"/>
            <a:ext cx="2257425" cy="452438"/>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设计并实现基于</a:t>
            </a:r>
            <a:r>
              <a:rPr lang="zh-CN" altLang="zh-HK" sz="1400">
                <a:solidFill>
                  <a:srgbClr val="595959"/>
                </a:solidFill>
                <a:latin typeface="TVOCAF+MicrosoftYaHei" panose="02000500000000000000"/>
              </a:rPr>
              <a:t>联邦</a:t>
            </a:r>
            <a:r>
              <a:rPr lang="zh-HK" altLang="en-US" sz="1400">
                <a:solidFill>
                  <a:srgbClr val="595959"/>
                </a:solidFill>
                <a:latin typeface="TVOCAF+MicrosoftYaHei" panose="02000500000000000000"/>
              </a:rPr>
              <a:t>推荐</a:t>
            </a:r>
            <a:endParaRPr lang="zh-HK" altLang="en-US" sz="1400">
              <a:solidFill>
                <a:srgbClr val="595959"/>
              </a:solidFill>
              <a:latin typeface="TVOCAF+MicrosoftYaHei" panose="02000500000000000000"/>
            </a:endParaRPr>
          </a:p>
        </p:txBody>
      </p:sp>
      <p:sp>
        <p:nvSpPr>
          <p:cNvPr id="8199" name="object 8"/>
          <p:cNvSpPr/>
          <p:nvPr/>
        </p:nvSpPr>
        <p:spPr>
          <a:xfrm>
            <a:off x="3935413" y="2057400"/>
            <a:ext cx="2405062" cy="2052638"/>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a:t>
            </a:r>
            <a:endParaRPr lang="zh-HK" altLang="en-US" sz="1400">
              <a:solidFill>
                <a:srgbClr val="595959"/>
              </a:solidFill>
              <a:latin typeface="TVOCAF+MicrosoftYaHei" panose="02000500000000000000"/>
            </a:endParaRPr>
          </a:p>
        </p:txBody>
      </p:sp>
      <p:sp>
        <p:nvSpPr>
          <p:cNvPr id="8200" name="object 9"/>
          <p:cNvSpPr/>
          <p:nvPr/>
        </p:nvSpPr>
        <p:spPr>
          <a:xfrm>
            <a:off x="6232525" y="1735138"/>
            <a:ext cx="1960563" cy="1041400"/>
          </a:xfrm>
          <a:prstGeom prst="rect">
            <a:avLst/>
          </a:prstGeom>
          <a:noFill/>
          <a:ln w="9525">
            <a:noFill/>
          </a:ln>
        </p:spPr>
        <p:txBody>
          <a:bodyPr wrap="square" lIns="0" tIns="0" rIns="0" bIns="0" anchor="t" anchorCtr="0"/>
          <a:p>
            <a:pPr>
              <a:lnSpc>
                <a:spcPct val="120000"/>
              </a:lnSpc>
            </a:pPr>
            <a:r>
              <a:rPr lang="zh-HK" altLang="en-US" sz="1400">
                <a:solidFill>
                  <a:srgbClr val="595959"/>
                </a:solidFill>
                <a:latin typeface="TVOCAF+MicrosoftYaHei" panose="02000500000000000000"/>
              </a:rPr>
              <a:t>评估系统的推荐效果</a:t>
            </a:r>
            <a:endParaRPr lang="zh-HK" altLang="en-US" sz="1400">
              <a:solidFill>
                <a:srgbClr val="595959"/>
              </a:solidFill>
              <a:latin typeface="TVOCAF+MicrosoftYaHei" panose="02000500000000000000"/>
            </a:endParaRPr>
          </a:p>
          <a:p>
            <a:pPr>
              <a:lnSpc>
                <a:spcPct val="120000"/>
              </a:lnSpc>
            </a:pPr>
            <a:r>
              <a:rPr lang="zh-HK" altLang="en-US" sz="1400">
                <a:solidFill>
                  <a:srgbClr val="595959"/>
                </a:solidFill>
                <a:latin typeface="TVOCAF+MicrosoftYaHei" panose="02000500000000000000"/>
              </a:rPr>
              <a:t>和性能，验证模型的</a:t>
            </a:r>
            <a:endParaRPr lang="zh-HK" altLang="en-US" sz="1400">
              <a:solidFill>
                <a:srgbClr val="595959"/>
              </a:solidFill>
              <a:latin typeface="TVOCAF+MicrosoftYaHei" panose="02000500000000000000"/>
            </a:endParaRPr>
          </a:p>
          <a:p>
            <a:pPr>
              <a:lnSpc>
                <a:spcPct val="120000"/>
              </a:lnSpc>
            </a:pPr>
            <a:r>
              <a:rPr lang="zh-HK" altLang="en-US" sz="1400">
                <a:solidFill>
                  <a:srgbClr val="595959"/>
                </a:solidFill>
                <a:latin typeface="TVOCAF+MicrosoftYaHei" panose="02000500000000000000"/>
              </a:rPr>
              <a:t>有效性和实用性。</a:t>
            </a:r>
            <a:endParaRPr lang="zh-HK" altLang="en-US" sz="1400">
              <a:solidFill>
                <a:srgbClr val="595959"/>
              </a:solidFill>
              <a:latin typeface="TVOCAF+MicrosoftYaHei" panose="02000500000000000000"/>
            </a:endParaRPr>
          </a:p>
        </p:txBody>
      </p:sp>
      <p:sp>
        <p:nvSpPr>
          <p:cNvPr id="8201" name="object 10"/>
          <p:cNvSpPr/>
          <p:nvPr/>
        </p:nvSpPr>
        <p:spPr>
          <a:xfrm>
            <a:off x="8199438" y="2057400"/>
            <a:ext cx="2257425" cy="452438"/>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的个性化推荐系统。</a:t>
            </a:r>
            <a:endParaRPr lang="zh-HK" altLang="en-US" sz="1400">
              <a:solidFill>
                <a:srgbClr val="595959"/>
              </a:solidFill>
              <a:latin typeface="TVOCAF+MicrosoftYaHei" panose="02000500000000000000"/>
            </a:endParaRPr>
          </a:p>
        </p:txBody>
      </p:sp>
      <p:sp>
        <p:nvSpPr>
          <p:cNvPr id="8202" name="object 11"/>
          <p:cNvSpPr/>
          <p:nvPr/>
        </p:nvSpPr>
        <p:spPr>
          <a:xfrm>
            <a:off x="1990725" y="5302250"/>
            <a:ext cx="1611313" cy="760413"/>
          </a:xfrm>
          <a:prstGeom prst="rect">
            <a:avLst/>
          </a:prstGeom>
          <a:noFill/>
          <a:ln w="9525">
            <a:noFill/>
          </a:ln>
        </p:spPr>
        <p:txBody>
          <a:bodyPr wrap="square" lIns="0" tIns="0" rIns="0" bIns="0" anchor="t" anchorCtr="0"/>
          <a:p>
            <a:pPr marL="101600">
              <a:lnSpc>
                <a:spcPts val="1650"/>
              </a:lnSpc>
            </a:pPr>
            <a:r>
              <a:rPr lang="zh-HK" altLang="en-US" sz="1600">
                <a:solidFill>
                  <a:srgbClr val="595959"/>
                </a:solidFill>
                <a:latin typeface="TVOCAF+MicrosoftYaHei" panose="02000500000000000000"/>
              </a:rPr>
              <a:t>基于</a:t>
            </a:r>
            <a:r>
              <a:rPr lang="en-US" altLang="zh-HK" sz="1600">
                <a:solidFill>
                  <a:srgbClr val="595959"/>
                </a:solidFill>
                <a:latin typeface="TVOCAF+MicrosoftYaHei" panose="02000500000000000000"/>
              </a:rPr>
              <a:t>KGAT </a:t>
            </a:r>
            <a:r>
              <a:rPr lang="zh-CN" altLang="en-US" sz="1600">
                <a:solidFill>
                  <a:srgbClr val="595959"/>
                </a:solidFill>
                <a:latin typeface="TVOCAF+MicrosoftYaHei" panose="02000500000000000000"/>
              </a:rPr>
              <a:t>与联邦</a:t>
            </a:r>
            <a:r>
              <a:rPr lang="zh-HK" altLang="en-US" sz="1600">
                <a:solidFill>
                  <a:srgbClr val="595959"/>
                </a:solidFill>
                <a:latin typeface="TVOCAF+MicrosoftYaHei" panose="02000500000000000000"/>
              </a:rPr>
              <a:t>推荐</a:t>
            </a:r>
            <a:r>
              <a:rPr lang="zh-CN" altLang="zh-HK" sz="1600">
                <a:solidFill>
                  <a:srgbClr val="595959"/>
                </a:solidFill>
                <a:latin typeface="TVOCAF+MicrosoftYaHei" panose="02000500000000000000"/>
              </a:rPr>
              <a:t>的</a:t>
            </a:r>
            <a:r>
              <a:rPr lang="zh-HK" altLang="en-US" sz="1600">
                <a:solidFill>
                  <a:srgbClr val="595959"/>
                </a:solidFill>
                <a:latin typeface="TVOCAF+MicrosoftYaHei" panose="02000500000000000000"/>
              </a:rPr>
              <a:t>模型</a:t>
            </a:r>
            <a:endParaRPr lang="zh-HK" altLang="en-US" sz="1600">
              <a:solidFill>
                <a:srgbClr val="595959"/>
              </a:solidFill>
              <a:latin typeface="TVOCAF+MicrosoftYaHei" panose="02000500000000000000"/>
            </a:endParaRPr>
          </a:p>
        </p:txBody>
      </p:sp>
      <p:sp>
        <p:nvSpPr>
          <p:cNvPr id="8203" name="object 12"/>
          <p:cNvSpPr/>
          <p:nvPr/>
        </p:nvSpPr>
        <p:spPr>
          <a:xfrm>
            <a:off x="4079875" y="5302250"/>
            <a:ext cx="1997075" cy="760413"/>
          </a:xfrm>
          <a:prstGeom prst="rect">
            <a:avLst/>
          </a:prstGeom>
          <a:noFill/>
          <a:ln w="9525">
            <a:noFill/>
          </a:ln>
        </p:spPr>
        <p:txBody>
          <a:bodyPr wrap="square" lIns="0" tIns="0" rIns="0" bIns="0" anchor="t" anchorCtr="0"/>
          <a:p>
            <a:pPr marL="336550">
              <a:lnSpc>
                <a:spcPts val="1650"/>
              </a:lnSpc>
            </a:pPr>
            <a:r>
              <a:rPr lang="zh-HK" altLang="en-US" sz="1600">
                <a:solidFill>
                  <a:srgbClr val="595959"/>
                </a:solidFill>
                <a:latin typeface="TVOCAF+MicrosoftYaHei" panose="02000500000000000000"/>
              </a:rPr>
              <a:t>动态量化和自适应剪枝</a:t>
            </a:r>
            <a:r>
              <a:rPr lang="zh-CN" altLang="zh-HK" sz="1600">
                <a:solidFill>
                  <a:srgbClr val="595959"/>
                </a:solidFill>
                <a:latin typeface="TVOCAF+MicrosoftYaHei" panose="02000500000000000000"/>
              </a:rPr>
              <a:t>的通信优化</a:t>
            </a:r>
            <a:endParaRPr lang="zh-CN" altLang="zh-HK" sz="1600">
              <a:solidFill>
                <a:srgbClr val="595959"/>
              </a:solidFill>
              <a:latin typeface="TVOCAF+MicrosoftYaHei" panose="02000500000000000000"/>
            </a:endParaRPr>
          </a:p>
        </p:txBody>
      </p:sp>
      <p:sp>
        <p:nvSpPr>
          <p:cNvPr id="8204" name="object 13"/>
          <p:cNvSpPr/>
          <p:nvPr/>
        </p:nvSpPr>
        <p:spPr>
          <a:xfrm>
            <a:off x="6740525" y="5299075"/>
            <a:ext cx="1117600" cy="515938"/>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实验评估</a:t>
            </a:r>
            <a:endParaRPr lang="zh-HK" altLang="en-US" sz="1600">
              <a:solidFill>
                <a:srgbClr val="595959"/>
              </a:solidFill>
              <a:latin typeface="TVOCAF+MicrosoftYaHei" panose="02000500000000000000"/>
            </a:endParaRPr>
          </a:p>
        </p:txBody>
      </p:sp>
      <p:sp>
        <p:nvSpPr>
          <p:cNvPr id="8205" name="object 14"/>
          <p:cNvSpPr/>
          <p:nvPr/>
        </p:nvSpPr>
        <p:spPr>
          <a:xfrm>
            <a:off x="8401050" y="5299075"/>
            <a:ext cx="2133600" cy="760413"/>
          </a:xfrm>
          <a:prstGeom prst="rect">
            <a:avLst/>
          </a:prstGeom>
          <a:noFill/>
          <a:ln w="9525">
            <a:noFill/>
          </a:ln>
        </p:spPr>
        <p:txBody>
          <a:bodyPr wrap="square" lIns="0" tIns="0" rIns="0" bIns="0" anchor="t" anchorCtr="0"/>
          <a:p>
            <a:pPr marL="406400">
              <a:lnSpc>
                <a:spcPts val="1650"/>
              </a:lnSpc>
            </a:pPr>
            <a:r>
              <a:rPr lang="zh-HK" altLang="en-US" sz="1600">
                <a:solidFill>
                  <a:srgbClr val="595959"/>
                </a:solidFill>
                <a:latin typeface="TVOCAF+MicrosoftYaHei" panose="02000500000000000000"/>
              </a:rPr>
              <a:t>设计并实现推荐系统</a:t>
            </a:r>
            <a:endParaRPr lang="zh-HK" altLang="en-US" sz="1600">
              <a:solidFill>
                <a:srgbClr val="595959"/>
              </a:solidFill>
              <a:latin typeface="TVOCAF+MicrosoftYaHei" panose="02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7" name="object 1"/>
          <p:cNvSpPr/>
          <p:nvPr/>
        </p:nvSpPr>
        <p:spPr>
          <a:xfrm>
            <a:off x="-96837" y="-26987"/>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9218" name="object 3"/>
          <p:cNvSpPr/>
          <p:nvPr/>
        </p:nvSpPr>
        <p:spPr>
          <a:xfrm>
            <a:off x="3935413" y="2205038"/>
            <a:ext cx="4733925" cy="1936750"/>
          </a:xfrm>
          <a:prstGeom prst="rect">
            <a:avLst/>
          </a:prstGeom>
          <a:noFill/>
          <a:ln w="9525">
            <a:noFill/>
          </a:ln>
        </p:spPr>
        <p:txBody>
          <a:bodyPr wrap="square" lIns="0" tIns="0" rIns="0" bIns="0" anchor="t" anchorCtr="0"/>
          <a:p>
            <a:pPr>
              <a:lnSpc>
                <a:spcPts val="6250"/>
              </a:lnSpc>
            </a:pPr>
            <a:r>
              <a:rPr lang="en-US" altLang="zh-HK" sz="6000">
                <a:solidFill>
                  <a:srgbClr val="595959"/>
                </a:solidFill>
                <a:latin typeface="LDIQCC+Impact"/>
              </a:rPr>
              <a:t>PART 03</a:t>
            </a:r>
            <a:endParaRPr lang="en-US" altLang="zh-HK" sz="6000">
              <a:solidFill>
                <a:srgbClr val="595959"/>
              </a:solidFill>
              <a:latin typeface="LDIQCC+Impact"/>
            </a:endParaRPr>
          </a:p>
        </p:txBody>
      </p:sp>
      <p:sp>
        <p:nvSpPr>
          <p:cNvPr id="9219" name="object 4"/>
          <p:cNvSpPr/>
          <p:nvPr/>
        </p:nvSpPr>
        <p:spPr>
          <a:xfrm>
            <a:off x="4318000" y="3406775"/>
            <a:ext cx="4127500" cy="1033463"/>
          </a:xfrm>
          <a:prstGeom prst="rect">
            <a:avLst/>
          </a:prstGeom>
          <a:noFill/>
          <a:ln w="9525">
            <a:noFill/>
          </a:ln>
        </p:spPr>
        <p:txBody>
          <a:bodyPr wrap="square" lIns="0" tIns="0" rIns="0" bIns="0" anchor="t" anchorCtr="0"/>
          <a:p>
            <a:pPr>
              <a:lnSpc>
                <a:spcPts val="3340"/>
              </a:lnSpc>
            </a:pPr>
            <a:r>
              <a:rPr lang="zh-HK" altLang="en-US" sz="3200">
                <a:solidFill>
                  <a:srgbClr val="595959"/>
                </a:solidFill>
                <a:latin typeface="VQFMMU+MicrosoftYaHei-Bold" panose="02000500000000000000"/>
              </a:rPr>
              <a:t>拟采取的研究方案</a:t>
            </a:r>
            <a:endParaRPr lang="zh-HK" altLang="en-US" sz="3200">
              <a:solidFill>
                <a:srgbClr val="595959"/>
              </a:solidFill>
              <a:latin typeface="VQFMMU+MicrosoftYaHei-Bold" panose="02000500000000000000"/>
            </a:endParaRPr>
          </a:p>
        </p:txBody>
      </p:sp>
      <p:sp>
        <p:nvSpPr>
          <p:cNvPr id="9220" name="object 5"/>
          <p:cNvSpPr/>
          <p:nvPr/>
        </p:nvSpPr>
        <p:spPr>
          <a:xfrm>
            <a:off x="4318000" y="4284663"/>
            <a:ext cx="3541713" cy="646112"/>
          </a:xfrm>
          <a:prstGeom prst="rect">
            <a:avLst/>
          </a:prstGeom>
          <a:noFill/>
          <a:ln w="9525">
            <a:noFill/>
          </a:ln>
        </p:spPr>
        <p:txBody>
          <a:bodyPr wrap="square" lIns="0" tIns="0" rIns="0" bIns="0" anchor="t" anchorCtr="0"/>
          <a:p>
            <a:pPr>
              <a:lnSpc>
                <a:spcPts val="2090"/>
              </a:lnSpc>
            </a:pPr>
            <a:endParaRPr lang="zh-HK" altLang="en-US" sz="2000">
              <a:solidFill>
                <a:srgbClr val="595959"/>
              </a:solidFill>
              <a:latin typeface="TVOCAF+MicrosoftYaHei" panose="02000500000000000000"/>
            </a:endParaRPr>
          </a:p>
        </p:txBody>
      </p:sp>
      <p:sp>
        <p:nvSpPr>
          <p:cNvPr id="9221" name="object 6"/>
          <p:cNvSpPr/>
          <p:nvPr/>
        </p:nvSpPr>
        <p:spPr>
          <a:xfrm>
            <a:off x="4318000" y="4651375"/>
            <a:ext cx="3541713" cy="646113"/>
          </a:xfrm>
          <a:prstGeom prst="rect">
            <a:avLst/>
          </a:prstGeom>
          <a:noFill/>
          <a:ln w="9525">
            <a:noFill/>
          </a:ln>
        </p:spPr>
        <p:txBody>
          <a:bodyPr wrap="square" lIns="0" tIns="0" rIns="0" bIns="0" anchor="t" anchorCtr="0"/>
          <a:p>
            <a:pPr>
              <a:lnSpc>
                <a:spcPts val="2090"/>
              </a:lnSpc>
            </a:pPr>
            <a:r>
              <a:rPr lang="en-US" altLang="zh-HK" sz="2000">
                <a:solidFill>
                  <a:srgbClr val="595959"/>
                </a:solidFill>
                <a:latin typeface="PDDLES+ArialMT" panose="02000500000000000000"/>
              </a:rPr>
              <a:t>• </a:t>
            </a:r>
            <a:r>
              <a:rPr lang="zh-HK" altLang="en-US" sz="2000">
                <a:solidFill>
                  <a:srgbClr val="595959"/>
                </a:solidFill>
                <a:latin typeface="TVOCAF+MicrosoftYaHei" panose="02000500000000000000"/>
              </a:rPr>
              <a:t>基于</a:t>
            </a:r>
            <a:r>
              <a:rPr lang="en-US" altLang="zh-HK" sz="2000">
                <a:solidFill>
                  <a:srgbClr val="595959"/>
                </a:solidFill>
                <a:latin typeface="TVOCAF+MicrosoftYaHei" panose="02000500000000000000"/>
              </a:rPr>
              <a:t>KGAT</a:t>
            </a:r>
            <a:r>
              <a:rPr lang="zh-HK" altLang="en-US" sz="2000">
                <a:solidFill>
                  <a:srgbClr val="595959"/>
                </a:solidFill>
                <a:latin typeface="TVOCAF+MicrosoftYaHei" panose="02000500000000000000"/>
              </a:rPr>
              <a:t>的</a:t>
            </a:r>
            <a:r>
              <a:rPr lang="zh-CN" altLang="zh-HK" sz="2000">
                <a:solidFill>
                  <a:srgbClr val="595959"/>
                </a:solidFill>
                <a:latin typeface="TVOCAF+MicrosoftYaHei" panose="02000500000000000000"/>
              </a:rPr>
              <a:t>联邦</a:t>
            </a:r>
            <a:r>
              <a:rPr lang="zh-HK" altLang="en-US" sz="2000">
                <a:solidFill>
                  <a:srgbClr val="595959"/>
                </a:solidFill>
                <a:latin typeface="TVOCAF+MicrosoftYaHei" panose="02000500000000000000"/>
              </a:rPr>
              <a:t>推荐模型</a:t>
            </a:r>
            <a:endParaRPr lang="zh-HK" altLang="en-US" sz="2000">
              <a:solidFill>
                <a:srgbClr val="595959"/>
              </a:solidFill>
              <a:latin typeface="TVOCAF+MicrosoftYaHei" panose="02000500000000000000"/>
            </a:endParaRPr>
          </a:p>
        </p:txBody>
      </p:sp>
      <p:sp>
        <p:nvSpPr>
          <p:cNvPr id="9222" name="object 7"/>
          <p:cNvSpPr/>
          <p:nvPr/>
        </p:nvSpPr>
        <p:spPr>
          <a:xfrm>
            <a:off x="4318000" y="5016500"/>
            <a:ext cx="5983288" cy="646113"/>
          </a:xfrm>
          <a:prstGeom prst="rect">
            <a:avLst/>
          </a:prstGeom>
          <a:noFill/>
          <a:ln w="9525">
            <a:noFill/>
          </a:ln>
        </p:spPr>
        <p:txBody>
          <a:bodyPr wrap="square" lIns="0" tIns="0" rIns="0" bIns="0" anchor="t" anchorCtr="0"/>
          <a:p>
            <a:pPr>
              <a:lnSpc>
                <a:spcPts val="2090"/>
              </a:lnSpc>
            </a:pPr>
            <a:r>
              <a:rPr lang="en-US" altLang="zh-HK" sz="2000">
                <a:solidFill>
                  <a:srgbClr val="595959"/>
                </a:solidFill>
                <a:latin typeface="PDDLES+ArialMT" panose="02000500000000000000"/>
              </a:rPr>
              <a:t>• </a:t>
            </a:r>
            <a:r>
              <a:rPr lang="zh-CN" altLang="en-US" sz="2000">
                <a:solidFill>
                  <a:srgbClr val="595959"/>
                </a:solidFill>
                <a:latin typeface="PDDLES+ArialMT" panose="02000500000000000000"/>
              </a:rPr>
              <a:t>基于动态</a:t>
            </a:r>
            <a:r>
              <a:rPr lang="zh-CN" altLang="en-US" sz="2000">
                <a:solidFill>
                  <a:srgbClr val="595959"/>
                </a:solidFill>
                <a:latin typeface="PDDLES+ArialMT" panose="02000500000000000000"/>
              </a:rPr>
              <a:t>量化</a:t>
            </a:r>
            <a:r>
              <a:rPr lang="zh-CN" altLang="en-US" sz="2000">
                <a:solidFill>
                  <a:srgbClr val="595959"/>
                </a:solidFill>
                <a:latin typeface="PDDLES+ArialMT" panose="02000500000000000000"/>
              </a:rPr>
              <a:t>和自适应剪枝的优化</a:t>
            </a:r>
            <a:endParaRPr lang="zh-CN" altLang="en-US" sz="2000">
              <a:solidFill>
                <a:srgbClr val="595959"/>
              </a:solidFill>
              <a:latin typeface="PDDLES+ArialMT" panose="02000500000000000000"/>
            </a:endParaRPr>
          </a:p>
          <a:p>
            <a:pPr>
              <a:lnSpc>
                <a:spcPts val="2090"/>
              </a:lnSpc>
            </a:pPr>
            <a:endParaRPr lang="zh-CN" altLang="en-US" sz="2000">
              <a:solidFill>
                <a:srgbClr val="595959"/>
              </a:solidFill>
              <a:latin typeface="PDDLES+ArialMT" panose="02000500000000000000"/>
            </a:endParaRPr>
          </a:p>
        </p:txBody>
      </p:sp>
      <p:sp>
        <p:nvSpPr>
          <p:cNvPr id="9223" name="object 7"/>
          <p:cNvSpPr/>
          <p:nvPr/>
        </p:nvSpPr>
        <p:spPr>
          <a:xfrm>
            <a:off x="4318000" y="5373688"/>
            <a:ext cx="5983288" cy="646112"/>
          </a:xfrm>
          <a:prstGeom prst="rect">
            <a:avLst/>
          </a:prstGeom>
          <a:noFill/>
          <a:ln w="9525">
            <a:noFill/>
          </a:ln>
        </p:spPr>
        <p:txBody>
          <a:bodyPr wrap="square" lIns="0" tIns="0" rIns="0" bIns="0" anchor="t" anchorCtr="0"/>
          <a:p>
            <a:pPr>
              <a:lnSpc>
                <a:spcPts val="2090"/>
              </a:lnSpc>
            </a:pPr>
            <a:r>
              <a:rPr lang="en-US" altLang="zh-HK" sz="2000">
                <a:solidFill>
                  <a:srgbClr val="595959"/>
                </a:solidFill>
                <a:latin typeface="PDDLES+ArialMT" panose="02000500000000000000"/>
                <a:sym typeface="Arial" panose="020B0604020202020204" pitchFamily="34" charset="0"/>
              </a:rPr>
              <a:t>• </a:t>
            </a:r>
            <a:r>
              <a:rPr lang="zh-HK" altLang="en-US" sz="2000">
                <a:solidFill>
                  <a:srgbClr val="595959"/>
                </a:solidFill>
                <a:latin typeface="TVOCAF+MicrosoftYaHei" panose="02000500000000000000"/>
                <a:sym typeface="Arial" panose="020B0604020202020204" pitchFamily="34" charset="0"/>
              </a:rPr>
              <a:t>个性化推荐系统开发</a:t>
            </a:r>
            <a:endParaRPr lang="zh-HK" altLang="en-US" sz="2000">
              <a:solidFill>
                <a:srgbClr val="595959"/>
              </a:solidFill>
              <a:latin typeface="TVOCAF+MicrosoftYaHei" panose="02000500000000000000"/>
            </a:endParaRPr>
          </a:p>
          <a:p>
            <a:pPr>
              <a:lnSpc>
                <a:spcPts val="2090"/>
              </a:lnSpc>
            </a:pPr>
            <a:endParaRPr lang="zh-CN" altLang="en-US" sz="2000">
              <a:solidFill>
                <a:srgbClr val="595959"/>
              </a:solidFill>
              <a:latin typeface="PDDLES+ArialMT" panose="02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241"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10242" name="object 3"/>
          <p:cNvSpPr/>
          <p:nvPr/>
        </p:nvSpPr>
        <p:spPr>
          <a:xfrm>
            <a:off x="10056813" y="117475"/>
            <a:ext cx="1976437" cy="1290638"/>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0243" name="object 4"/>
          <p:cNvSpPr/>
          <p:nvPr/>
        </p:nvSpPr>
        <p:spPr>
          <a:xfrm>
            <a:off x="5254625" y="255588"/>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0244" name="object 5"/>
          <p:cNvSpPr/>
          <p:nvPr/>
        </p:nvSpPr>
        <p:spPr>
          <a:xfrm>
            <a:off x="1906588" y="1570038"/>
            <a:ext cx="1320800" cy="515937"/>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数据库建立</a:t>
            </a:r>
            <a:endParaRPr lang="zh-HK" altLang="en-US" sz="1600">
              <a:solidFill>
                <a:srgbClr val="595959"/>
              </a:solidFill>
              <a:latin typeface="TVOCAF+MicrosoftYaHei" panose="02000500000000000000"/>
            </a:endParaRPr>
          </a:p>
        </p:txBody>
      </p:sp>
      <p:sp>
        <p:nvSpPr>
          <p:cNvPr id="10245" name="object 6"/>
          <p:cNvSpPr/>
          <p:nvPr/>
        </p:nvSpPr>
        <p:spPr>
          <a:xfrm>
            <a:off x="4314825" y="1558925"/>
            <a:ext cx="7048500" cy="488950"/>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来源：</a:t>
            </a:r>
            <a:r>
              <a:rPr lang="en-US" altLang="zh-HK" sz="1600">
                <a:solidFill>
                  <a:srgbClr val="595959"/>
                </a:solidFill>
                <a:latin typeface="TVOCAF+MicrosoftYaHei" panose="02000500000000000000"/>
              </a:rPr>
              <a:t>Last.fm</a:t>
            </a:r>
            <a:r>
              <a:rPr lang="zh-HK" altLang="en-US" sz="1600">
                <a:solidFill>
                  <a:srgbClr val="595959"/>
                </a:solidFill>
                <a:latin typeface="TVOCAF+MicrosoftYaHei" panose="02000500000000000000"/>
              </a:rPr>
              <a:t>数据集</a:t>
            </a:r>
            <a:r>
              <a:rPr lang="zh-HK" altLang="en-US" sz="1400">
                <a:solidFill>
                  <a:srgbClr val="595959"/>
                </a:solidFill>
                <a:latin typeface="TVOCAF+MicrosoftYaHei" panose="02000500000000000000"/>
              </a:rPr>
              <a:t>（包含</a:t>
            </a:r>
            <a:r>
              <a:rPr lang="zh-CN" altLang="zh-HK" sz="1400">
                <a:solidFill>
                  <a:srgbClr val="595959"/>
                </a:solidFill>
                <a:latin typeface="TVOCAF+MicrosoftYaHei" panose="02000500000000000000"/>
              </a:rPr>
              <a:t>音乐</a:t>
            </a:r>
            <a:r>
              <a:rPr lang="zh-HK" altLang="en-US" sz="1400">
                <a:solidFill>
                  <a:srgbClr val="595959"/>
                </a:solidFill>
                <a:latin typeface="TVOCAF+MicrosoftYaHei" panose="02000500000000000000"/>
              </a:rPr>
              <a:t>信息表、用户表、评分表、用户行为表）</a:t>
            </a:r>
            <a:endParaRPr lang="zh-HK" altLang="en-US" sz="1400">
              <a:solidFill>
                <a:srgbClr val="595959"/>
              </a:solidFill>
              <a:latin typeface="TVOCAF+MicrosoftYaHei" panose="02000500000000000000"/>
            </a:endParaRPr>
          </a:p>
        </p:txBody>
      </p:sp>
      <p:sp>
        <p:nvSpPr>
          <p:cNvPr id="10246" name="object 7"/>
          <p:cNvSpPr/>
          <p:nvPr/>
        </p:nvSpPr>
        <p:spPr>
          <a:xfrm>
            <a:off x="5519738" y="2205038"/>
            <a:ext cx="4919662" cy="474662"/>
          </a:xfrm>
          <a:prstGeom prst="rect">
            <a:avLst/>
          </a:prstGeom>
          <a:noFill/>
          <a:ln w="9525">
            <a:noFill/>
          </a:ln>
        </p:spPr>
        <p:txBody>
          <a:bodyPr wrap="square" lIns="0" tIns="0" rIns="0" bIns="0" anchor="t" anchorCtr="0"/>
          <a:p>
            <a:pPr marL="3516630">
              <a:lnSpc>
                <a:spcPts val="1250"/>
              </a:lnSpc>
            </a:pPr>
            <a:r>
              <a:rPr lang="zh-CN" altLang="zh-HK" sz="1200">
                <a:solidFill>
                  <a:srgbClr val="FFFFFF"/>
                </a:solidFill>
                <a:latin typeface="TVOCAF+MicrosoftYaHei" panose="02000500000000000000"/>
              </a:rPr>
              <a:t>通信成本问题</a:t>
            </a:r>
            <a:endParaRPr lang="zh-CN" altLang="zh-HK" sz="1200">
              <a:solidFill>
                <a:srgbClr val="FFFFFF"/>
              </a:solidFill>
              <a:latin typeface="TVOCAF+MicrosoftYaHei" panose="02000500000000000000"/>
            </a:endParaRPr>
          </a:p>
        </p:txBody>
      </p:sp>
      <p:sp>
        <p:nvSpPr>
          <p:cNvPr id="10247" name="object 8"/>
          <p:cNvSpPr/>
          <p:nvPr/>
        </p:nvSpPr>
        <p:spPr>
          <a:xfrm>
            <a:off x="5448300" y="2132013"/>
            <a:ext cx="1143000" cy="387350"/>
          </a:xfrm>
          <a:prstGeom prst="rect">
            <a:avLst/>
          </a:prstGeom>
          <a:noFill/>
          <a:ln w="9525">
            <a:noFill/>
          </a:ln>
        </p:spPr>
        <p:txBody>
          <a:bodyPr wrap="square" lIns="0" tIns="0" rIns="0" bIns="0" anchor="t" anchorCtr="0"/>
          <a:p>
            <a:pPr>
              <a:lnSpc>
                <a:spcPts val="1250"/>
              </a:lnSpc>
            </a:pPr>
            <a:r>
              <a:rPr lang="zh-CN" altLang="zh-HK" sz="1200">
                <a:solidFill>
                  <a:srgbClr val="FFFFFF"/>
                </a:solidFill>
                <a:latin typeface="TVOCAF+MicrosoftYaHei" panose="02000500000000000000"/>
              </a:rPr>
              <a:t>隐私保护</a:t>
            </a:r>
            <a:endParaRPr lang="zh-HK" altLang="en-US" sz="1200">
              <a:solidFill>
                <a:srgbClr val="FFFFFF"/>
              </a:solidFill>
              <a:latin typeface="TVOCAF+MicrosoftYaHei" panose="02000500000000000000"/>
            </a:endParaRPr>
          </a:p>
          <a:p>
            <a:pPr>
              <a:lnSpc>
                <a:spcPts val="1250"/>
              </a:lnSpc>
            </a:pPr>
            <a:r>
              <a:rPr lang="zh-HK" altLang="en-US" sz="1200">
                <a:solidFill>
                  <a:srgbClr val="FFFFFF"/>
                </a:solidFill>
                <a:latin typeface="TVOCAF+MicrosoftYaHei" panose="02000500000000000000"/>
              </a:rPr>
              <a:t>推荐精度问题</a:t>
            </a:r>
            <a:endParaRPr lang="zh-HK" altLang="en-US" sz="1200">
              <a:solidFill>
                <a:srgbClr val="FFFFFF"/>
              </a:solidFill>
              <a:latin typeface="TVOCAF+MicrosoftYaHei" panose="02000500000000000000"/>
            </a:endParaRPr>
          </a:p>
        </p:txBody>
      </p:sp>
      <p:sp>
        <p:nvSpPr>
          <p:cNvPr id="10248" name="object 9"/>
          <p:cNvSpPr/>
          <p:nvPr/>
        </p:nvSpPr>
        <p:spPr>
          <a:xfrm>
            <a:off x="4583113" y="3141663"/>
            <a:ext cx="3036887" cy="1003300"/>
          </a:xfrm>
          <a:prstGeom prst="rect">
            <a:avLst/>
          </a:prstGeom>
          <a:noFill/>
          <a:ln w="9525">
            <a:noFill/>
          </a:ln>
        </p:spPr>
        <p:txBody>
          <a:bodyPr wrap="square" lIns="0" tIns="0" rIns="0" bIns="0" anchor="t" anchorCtr="0"/>
          <a:p>
            <a:pPr>
              <a:lnSpc>
                <a:spcPts val="2090"/>
              </a:lnSpc>
            </a:pPr>
            <a:r>
              <a:rPr lang="zh-HK" altLang="en-US" sz="1600">
                <a:solidFill>
                  <a:srgbClr val="595959"/>
                </a:solidFill>
                <a:latin typeface="TVOCAF+MicrosoftYaHei" panose="02000500000000000000"/>
              </a:rPr>
              <a:t>基于</a:t>
            </a:r>
            <a:r>
              <a:rPr lang="en-US" altLang="zh-HK" sz="1600">
                <a:solidFill>
                  <a:srgbClr val="595959"/>
                </a:solidFill>
                <a:latin typeface="TVOCAF+MicrosoftYaHei" panose="02000500000000000000"/>
              </a:rPr>
              <a:t>KGAT</a:t>
            </a:r>
            <a:r>
              <a:rPr lang="zh-HK" altLang="en-US" sz="1600">
                <a:solidFill>
                  <a:srgbClr val="595959"/>
                </a:solidFill>
                <a:latin typeface="TVOCAF+MicrosoftYaHei" panose="02000500000000000000"/>
              </a:rPr>
              <a:t>的</a:t>
            </a:r>
            <a:r>
              <a:rPr lang="zh-CN" altLang="zh-HK" sz="1600">
                <a:solidFill>
                  <a:srgbClr val="595959"/>
                </a:solidFill>
                <a:latin typeface="TVOCAF+MicrosoftYaHei" panose="02000500000000000000"/>
              </a:rPr>
              <a:t>联邦</a:t>
            </a:r>
            <a:r>
              <a:rPr lang="zh-HK" altLang="en-US" sz="1600">
                <a:solidFill>
                  <a:srgbClr val="595959"/>
                </a:solidFill>
                <a:latin typeface="TVOCAF+MicrosoftYaHei" panose="02000500000000000000"/>
              </a:rPr>
              <a:t>推荐模型</a:t>
            </a:r>
            <a:endParaRPr lang="zh-HK" altLang="en-US" sz="1600">
              <a:solidFill>
                <a:srgbClr val="595959"/>
              </a:solidFill>
              <a:latin typeface="TVOCAF+MicrosoftYaHei" panose="02000500000000000000"/>
            </a:endParaRPr>
          </a:p>
        </p:txBody>
      </p:sp>
      <p:sp>
        <p:nvSpPr>
          <p:cNvPr id="10249" name="object 10"/>
          <p:cNvSpPr/>
          <p:nvPr/>
        </p:nvSpPr>
        <p:spPr>
          <a:xfrm>
            <a:off x="7535863" y="3063875"/>
            <a:ext cx="2803525" cy="1003300"/>
          </a:xfrm>
          <a:prstGeom prst="rect">
            <a:avLst/>
          </a:prstGeom>
          <a:noFill/>
          <a:ln w="9525">
            <a:noFill/>
          </a:ln>
        </p:spPr>
        <p:txBody>
          <a:bodyPr wrap="square" lIns="0" tIns="0" rIns="0" bIns="0" anchor="t" anchorCtr="0"/>
          <a:p>
            <a:pPr marL="101600">
              <a:lnSpc>
                <a:spcPts val="1650"/>
              </a:lnSpc>
            </a:pPr>
            <a:r>
              <a:rPr lang="zh-CN" altLang="en-US" sz="1600">
                <a:solidFill>
                  <a:srgbClr val="595959"/>
                </a:solidFill>
                <a:latin typeface="PDDLES+ArialMT" panose="02000500000000000000"/>
              </a:rPr>
              <a:t>基于动态量化和自适应剪枝的参数优化</a:t>
            </a:r>
            <a:endParaRPr lang="zh-HK" altLang="en-US" sz="1600">
              <a:solidFill>
                <a:srgbClr val="595959"/>
              </a:solidFill>
              <a:latin typeface="TVOCAF+MicrosoftYaHei" panose="02000500000000000000"/>
            </a:endParaRPr>
          </a:p>
        </p:txBody>
      </p:sp>
      <p:sp>
        <p:nvSpPr>
          <p:cNvPr id="10250" name="object 11"/>
          <p:cNvSpPr/>
          <p:nvPr/>
        </p:nvSpPr>
        <p:spPr>
          <a:xfrm>
            <a:off x="1703388" y="3194050"/>
            <a:ext cx="1727200" cy="1881188"/>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模型与算法研究</a:t>
            </a:r>
            <a:endParaRPr lang="zh-HK" altLang="en-US" sz="1600">
              <a:solidFill>
                <a:srgbClr val="595959"/>
              </a:solidFill>
              <a:latin typeface="TVOCAF+MicrosoftYaHei" panose="02000500000000000000"/>
            </a:endParaRPr>
          </a:p>
          <a:p>
            <a:pPr>
              <a:lnSpc>
                <a:spcPts val="1650"/>
              </a:lnSpc>
              <a:spcBef>
                <a:spcPts val="9075"/>
              </a:spcBef>
            </a:pPr>
            <a:r>
              <a:rPr lang="zh-HK" altLang="en-US" sz="1600">
                <a:solidFill>
                  <a:srgbClr val="595959"/>
                </a:solidFill>
                <a:latin typeface="TVOCAF+MicrosoftYaHei" panose="02000500000000000000"/>
              </a:rPr>
              <a:t>平台设计与开发</a:t>
            </a:r>
            <a:endParaRPr lang="zh-HK" altLang="en-US" sz="1600">
              <a:solidFill>
                <a:srgbClr val="595959"/>
              </a:solidFill>
              <a:latin typeface="TVOCAF+MicrosoftYaHei" panose="02000500000000000000"/>
            </a:endParaRPr>
          </a:p>
        </p:txBody>
      </p:sp>
      <p:sp>
        <p:nvSpPr>
          <p:cNvPr id="10251" name="object 12"/>
          <p:cNvSpPr/>
          <p:nvPr/>
        </p:nvSpPr>
        <p:spPr>
          <a:xfrm>
            <a:off x="4367213" y="4579938"/>
            <a:ext cx="7092950" cy="515937"/>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将</a:t>
            </a:r>
            <a:r>
              <a:rPr lang="zh-CN" altLang="zh-HK" sz="1600">
                <a:solidFill>
                  <a:srgbClr val="595959"/>
                </a:solidFill>
                <a:latin typeface="TVOCAF+MicrosoftYaHei" panose="02000500000000000000"/>
              </a:rPr>
              <a:t>设计的算法</a:t>
            </a:r>
            <a:r>
              <a:rPr lang="zh-HK" altLang="en-US" sz="1600">
                <a:solidFill>
                  <a:srgbClr val="595959"/>
                </a:solidFill>
                <a:latin typeface="TVOCAF+MicrosoftYaHei" panose="02000500000000000000"/>
              </a:rPr>
              <a:t>应用于</a:t>
            </a:r>
            <a:r>
              <a:rPr lang="zh-CN" altLang="zh-HK" sz="1600">
                <a:solidFill>
                  <a:srgbClr val="595959"/>
                </a:solidFill>
                <a:latin typeface="TVOCAF+MicrosoftYaHei" panose="02000500000000000000"/>
              </a:rPr>
              <a:t>音乐</a:t>
            </a:r>
            <a:r>
              <a:rPr lang="zh-HK" altLang="en-US" sz="1600">
                <a:solidFill>
                  <a:srgbClr val="595959"/>
                </a:solidFill>
                <a:latin typeface="TVOCAF+MicrosoftYaHei" panose="02000500000000000000"/>
              </a:rPr>
              <a:t>推荐场景中，搭建</a:t>
            </a:r>
            <a:r>
              <a:rPr lang="zh-CN" altLang="zh-HK" sz="1600">
                <a:solidFill>
                  <a:srgbClr val="595959"/>
                </a:solidFill>
                <a:latin typeface="TVOCAF+MicrosoftYaHei" panose="02000500000000000000"/>
              </a:rPr>
              <a:t>音乐</a:t>
            </a:r>
            <a:r>
              <a:rPr lang="zh-HK" altLang="en-US" sz="1600">
                <a:solidFill>
                  <a:srgbClr val="595959"/>
                </a:solidFill>
                <a:latin typeface="VQFMMU+MicrosoftYaHei-Bold" panose="02000500000000000000"/>
              </a:rPr>
              <a:t>个性化推荐系统</a:t>
            </a:r>
            <a:r>
              <a:rPr lang="zh-HK" altLang="en-US" sz="1600">
                <a:solidFill>
                  <a:srgbClr val="595959"/>
                </a:solidFill>
                <a:latin typeface="TVOCAF+MicrosoftYaHei" panose="02000500000000000000"/>
              </a:rPr>
              <a:t>。</a:t>
            </a:r>
            <a:endParaRPr lang="zh-HK" altLang="en-US" sz="1600">
              <a:solidFill>
                <a:srgbClr val="595959"/>
              </a:solidFill>
              <a:latin typeface="TVOCAF+MicrosoftYaHei" panose="02000500000000000000"/>
            </a:endParaRPr>
          </a:p>
          <a:p>
            <a:pPr>
              <a:lnSpc>
                <a:spcPts val="1650"/>
              </a:lnSpc>
            </a:pPr>
            <a:endParaRPr lang="zh-CN" altLang="zh-HK" sz="1600">
              <a:solidFill>
                <a:srgbClr val="595959"/>
              </a:solidFill>
              <a:latin typeface="TVOCAF+MicrosoftYaHei" panose="02000500000000000000"/>
            </a:endParaRPr>
          </a:p>
        </p:txBody>
      </p:sp>
      <p:sp>
        <p:nvSpPr>
          <p:cNvPr id="10252" name="object 14"/>
          <p:cNvSpPr/>
          <p:nvPr/>
        </p:nvSpPr>
        <p:spPr>
          <a:xfrm>
            <a:off x="1558925" y="5445125"/>
            <a:ext cx="10047288" cy="881063"/>
          </a:xfrm>
          <a:prstGeom prst="rect">
            <a:avLst/>
          </a:prstGeom>
          <a:noFill/>
          <a:ln w="9525">
            <a:noFill/>
          </a:ln>
        </p:spPr>
        <p:txBody>
          <a:bodyPr wrap="square" lIns="0" tIns="0" rIns="0" bIns="0" anchor="t" anchorCtr="0"/>
          <a:p>
            <a:pPr>
              <a:lnSpc>
                <a:spcPct val="150000"/>
              </a:lnSpc>
            </a:pPr>
            <a:r>
              <a:rPr lang="zh-HK" altLang="en-US" sz="1600">
                <a:solidFill>
                  <a:srgbClr val="FFFFFF"/>
                </a:solidFill>
                <a:latin typeface="VQFMMU+MicrosoftYaHei-Bold" panose="02000500000000000000"/>
              </a:rPr>
              <a:t>旨在利用深度学习的信息提取能力，对推荐算法进行研究，构造一个面向用户的的</a:t>
            </a:r>
            <a:r>
              <a:rPr lang="zh-CN" altLang="zh-HK" sz="1600">
                <a:solidFill>
                  <a:srgbClr val="FFFFFF"/>
                </a:solidFill>
                <a:latin typeface="VQFMMU+MicrosoftYaHei-Bold" panose="02000500000000000000"/>
              </a:rPr>
              <a:t>音乐联邦</a:t>
            </a:r>
            <a:r>
              <a:rPr lang="zh-HK" altLang="en-US" sz="1600">
                <a:solidFill>
                  <a:srgbClr val="FFFFFF"/>
                </a:solidFill>
                <a:latin typeface="VQFMMU+MicrosoftYaHei-Bold" panose="02000500000000000000"/>
              </a:rPr>
              <a:t>推荐系</a:t>
            </a:r>
            <a:endParaRPr lang="zh-HK" altLang="en-US" sz="1600">
              <a:solidFill>
                <a:srgbClr val="FFFFFF"/>
              </a:solidFill>
              <a:latin typeface="VQFMMU+MicrosoftYaHei-Bold" panose="02000500000000000000"/>
            </a:endParaRPr>
          </a:p>
          <a:p>
            <a:pPr>
              <a:lnSpc>
                <a:spcPct val="150000"/>
              </a:lnSpc>
            </a:pPr>
            <a:r>
              <a:rPr lang="zh-HK" altLang="en-US" sz="1600">
                <a:solidFill>
                  <a:srgbClr val="FFFFFF"/>
                </a:solidFill>
                <a:latin typeface="VQFMMU+MicrosoftYaHei-Bold" panose="02000500000000000000"/>
              </a:rPr>
              <a:t>统。</a:t>
            </a:r>
            <a:endParaRPr lang="zh-HK" altLang="en-US" sz="1600">
              <a:solidFill>
                <a:srgbClr val="FFFFFF"/>
              </a:solidFill>
              <a:latin typeface="VQFMMU+MicrosoftYaHei-Bold" panose="02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5" name="object 3"/>
          <p:cNvSpPr/>
          <p:nvPr/>
        </p:nvSpPr>
        <p:spPr>
          <a:xfrm>
            <a:off x="9912350" y="188913"/>
            <a:ext cx="1976438"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1266" name="object 4"/>
          <p:cNvSpPr/>
          <p:nvPr/>
        </p:nvSpPr>
        <p:spPr>
          <a:xfrm>
            <a:off x="5241925" y="246063"/>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1267" name="object 5"/>
          <p:cNvSpPr/>
          <p:nvPr/>
        </p:nvSpPr>
        <p:spPr>
          <a:xfrm>
            <a:off x="1028700" y="1101725"/>
            <a:ext cx="2673350" cy="646113"/>
          </a:xfrm>
          <a:prstGeom prst="rect">
            <a:avLst/>
          </a:prstGeom>
          <a:noFill/>
          <a:ln w="9525">
            <a:noFill/>
          </a:ln>
        </p:spPr>
        <p:txBody>
          <a:bodyPr wrap="square" lIns="0" tIns="0" rIns="0" bIns="0" anchor="t" anchorCtr="0"/>
          <a:p>
            <a:pPr>
              <a:lnSpc>
                <a:spcPts val="2090"/>
              </a:lnSpc>
            </a:pPr>
            <a:r>
              <a:rPr lang="zh-HK" altLang="en-US" sz="2000">
                <a:solidFill>
                  <a:srgbClr val="FFFFFF"/>
                </a:solidFill>
                <a:latin typeface="TVOCAF+MicrosoftYaHei" panose="02000500000000000000"/>
              </a:rPr>
              <a:t>基于</a:t>
            </a:r>
            <a:r>
              <a:rPr lang="en-US" altLang="zh-HK" sz="2000">
                <a:solidFill>
                  <a:srgbClr val="FFFFFF"/>
                </a:solidFill>
                <a:latin typeface="TVOCAF+MicrosoftYaHei" panose="02000500000000000000"/>
              </a:rPr>
              <a:t>KGAT</a:t>
            </a:r>
            <a:r>
              <a:rPr lang="zh-HK" altLang="en-US" sz="2000">
                <a:solidFill>
                  <a:srgbClr val="FFFFFF"/>
                </a:solidFill>
                <a:latin typeface="TVOCAF+MicrosoftYaHei" panose="02000500000000000000"/>
              </a:rPr>
              <a:t>的优化算法</a:t>
            </a:r>
            <a:endParaRPr lang="zh-HK" altLang="en-US" sz="2000">
              <a:solidFill>
                <a:srgbClr val="FFFFFF"/>
              </a:solidFill>
              <a:latin typeface="TVOCAF+MicrosoftYaHei" panose="02000500000000000000"/>
            </a:endParaRPr>
          </a:p>
        </p:txBody>
      </p:sp>
      <p:sp>
        <p:nvSpPr>
          <p:cNvPr id="11268" name="object 6"/>
          <p:cNvSpPr/>
          <p:nvPr/>
        </p:nvSpPr>
        <p:spPr>
          <a:xfrm>
            <a:off x="4583113" y="3811588"/>
            <a:ext cx="3513137" cy="452437"/>
          </a:xfrm>
          <a:prstGeom prst="rect">
            <a:avLst/>
          </a:prstGeom>
          <a:noFill/>
          <a:ln w="9525">
            <a:noFill/>
          </a:ln>
        </p:spPr>
        <p:txBody>
          <a:bodyPr wrap="square" lIns="0" tIns="0" rIns="0" bIns="0" anchor="t" anchorCtr="0"/>
          <a:p>
            <a:pPr>
              <a:lnSpc>
                <a:spcPts val="1465"/>
              </a:lnSpc>
            </a:pPr>
            <a:r>
              <a:rPr lang="zh-HK" altLang="en-US" sz="1400">
                <a:solidFill>
                  <a:srgbClr val="000000"/>
                </a:solidFill>
                <a:latin typeface="TVOCAF+MicrosoftYaHei" panose="02000500000000000000"/>
              </a:rPr>
              <a:t>图</a:t>
            </a:r>
            <a:r>
              <a:rPr lang="zh-CN" altLang="zh-HK" sz="1400">
                <a:solidFill>
                  <a:srgbClr val="000000"/>
                </a:solidFill>
                <a:latin typeface="TVOCAF+MicrosoftYaHei" panose="02000500000000000000"/>
              </a:rPr>
              <a:t>一</a:t>
            </a:r>
            <a:r>
              <a:rPr lang="zh-HK" altLang="en-US" sz="1400">
                <a:solidFill>
                  <a:srgbClr val="000000"/>
                </a:solidFill>
                <a:latin typeface="TVOCAF+MicrosoftYaHei" panose="02000500000000000000"/>
              </a:rPr>
              <a:t> 基于知识图注意力网络的优化算法流程</a:t>
            </a:r>
            <a:endParaRPr lang="zh-HK" altLang="en-US" sz="1400">
              <a:solidFill>
                <a:srgbClr val="000000"/>
              </a:solidFill>
              <a:latin typeface="TVOCAF+MicrosoftYaHei" panose="02000500000000000000"/>
            </a:endParaRPr>
          </a:p>
        </p:txBody>
      </p:sp>
      <p:sp>
        <p:nvSpPr>
          <p:cNvPr id="11269" name="object 7"/>
          <p:cNvSpPr/>
          <p:nvPr/>
        </p:nvSpPr>
        <p:spPr>
          <a:xfrm>
            <a:off x="1028700" y="4437063"/>
            <a:ext cx="10115550" cy="515937"/>
          </a:xfrm>
          <a:prstGeom prst="rect">
            <a:avLst/>
          </a:prstGeom>
          <a:noFill/>
          <a:ln w="9525">
            <a:noFill/>
          </a:ln>
        </p:spPr>
        <p:txBody>
          <a:bodyPr wrap="square" lIns="0" tIns="0" rIns="0" bIns="0" anchor="t" anchorCtr="0"/>
          <a:p>
            <a:pPr indent="457200">
              <a:lnSpc>
                <a:spcPts val="2000"/>
              </a:lnSpc>
            </a:pPr>
            <a:r>
              <a:rPr lang="en-US" altLang="zh-HK" sz="1600">
                <a:solidFill>
                  <a:srgbClr val="595959"/>
                </a:solidFill>
                <a:latin typeface="TVOCAF+MicrosoftYaHei" panose="02000500000000000000"/>
              </a:rPr>
              <a:t>KGAT</a:t>
            </a:r>
            <a:r>
              <a:rPr lang="zh-HK" altLang="en-US" sz="1600">
                <a:solidFill>
                  <a:srgbClr val="595959"/>
                </a:solidFill>
                <a:latin typeface="TVOCAF+MicrosoftYaHei" panose="02000500000000000000"/>
              </a:rPr>
              <a:t>采用注意力机制来学习用户与项目之间的复杂交互关系，能够显式地利用知识图谱中的高阶关联信息，而不是隐式地编码这些信息。它通过递归嵌入传播和基于注意力的聚合，以显式方式探索高阶连接性，从而有效地捕获协作信号。具体来说，</a:t>
            </a:r>
            <a:r>
              <a:rPr lang="en-US" altLang="zh-HK" sz="1600">
                <a:solidFill>
                  <a:srgbClr val="595959"/>
                </a:solidFill>
                <a:latin typeface="TVOCAF+MicrosoftYaHei" panose="02000500000000000000"/>
              </a:rPr>
              <a:t>KGAT</a:t>
            </a:r>
            <a:r>
              <a:rPr lang="zh-HK" altLang="en-US" sz="1600">
                <a:solidFill>
                  <a:srgbClr val="595959"/>
                </a:solidFill>
                <a:latin typeface="TVOCAF+MicrosoftYaHei" panose="02000500000000000000"/>
              </a:rPr>
              <a:t>首先将用户、项目和属性实体映射到低维向量空间，然后通过图注意力网络捕获实体之间的高阶关系，学习用户和项目的嵌入表示。接着，利用这些嵌入表示进行推荐预测，从而为用户提供更准确和个性化的推荐结果</a:t>
            </a:r>
            <a:r>
              <a:rPr lang="zh-CN" altLang="zh-HK" sz="1600">
                <a:solidFill>
                  <a:srgbClr val="595959"/>
                </a:solidFill>
                <a:latin typeface="TVOCAF+MicrosoftYaHei" panose="02000500000000000000"/>
                <a:ea typeface="宋体" panose="02010600030101010101" pitchFamily="2" charset="-122"/>
              </a:rPr>
              <a:t>，但</a:t>
            </a:r>
            <a:r>
              <a:rPr lang="en-US" altLang="zh-CN" sz="1600">
                <a:solidFill>
                  <a:srgbClr val="595959"/>
                </a:solidFill>
                <a:latin typeface="TVOCAF+MicrosoftYaHei" panose="02000500000000000000"/>
                <a:ea typeface="宋体" panose="02010600030101010101" pitchFamily="2" charset="-122"/>
              </a:rPr>
              <a:t>transR</a:t>
            </a:r>
            <a:r>
              <a:rPr lang="zh-CN" altLang="en-US" sz="1600">
                <a:solidFill>
                  <a:srgbClr val="595959"/>
                </a:solidFill>
                <a:latin typeface="TVOCAF+MicrosoftYaHei" panose="02000500000000000000"/>
                <a:ea typeface="宋体" panose="02010600030101010101" pitchFamily="2" charset="-122"/>
              </a:rPr>
              <a:t>计算复杂度较大与</a:t>
            </a:r>
            <a:r>
              <a:rPr lang="zh-HK" altLang="en-US" sz="1600">
                <a:latin typeface="Arial" panose="020B0604020202020204" pitchFamily="34" charset="0"/>
              </a:rPr>
              <a:t>注意力分配函数较为简单</a:t>
            </a:r>
            <a:r>
              <a:rPr lang="zh-CN" altLang="zh-HK" sz="1600">
                <a:latin typeface="Arial" panose="020B0604020202020204" pitchFamily="34" charset="0"/>
              </a:rPr>
              <a:t>的问题。融入</a:t>
            </a:r>
            <a:r>
              <a:rPr lang="en-US" altLang="zh-CN" sz="1600">
                <a:latin typeface="Arial" panose="020B0604020202020204" pitchFamily="34" charset="0"/>
              </a:rPr>
              <a:t>TransD</a:t>
            </a:r>
            <a:r>
              <a:rPr lang="zh-CN" altLang="en-US" sz="1600">
                <a:latin typeface="Arial" panose="020B0604020202020204" pitchFamily="34" charset="0"/>
              </a:rPr>
              <a:t>与多层感知机来增加模型的非线性表达问题。</a:t>
            </a:r>
            <a:endParaRPr lang="zh-CN" altLang="en-US" sz="1600">
              <a:latin typeface="Arial" panose="020B0604020202020204" pitchFamily="34" charset="0"/>
            </a:endParaRPr>
          </a:p>
        </p:txBody>
      </p:sp>
      <p:sp>
        <p:nvSpPr>
          <p:cNvPr id="11270" name="object 9"/>
          <p:cNvSpPr/>
          <p:nvPr/>
        </p:nvSpPr>
        <p:spPr>
          <a:xfrm>
            <a:off x="889000" y="5300663"/>
            <a:ext cx="11684000" cy="808037"/>
          </a:xfrm>
          <a:prstGeom prst="rect">
            <a:avLst/>
          </a:prstGeom>
          <a:noFill/>
          <a:ln w="9525">
            <a:noFill/>
          </a:ln>
        </p:spPr>
        <p:txBody>
          <a:bodyPr wrap="square" lIns="0" tIns="0" rIns="0" bIns="0" anchor="t" anchorCtr="0"/>
          <a:p>
            <a:pPr marL="406400">
              <a:lnSpc>
                <a:spcPts val="1650"/>
              </a:lnSpc>
            </a:pPr>
            <a:endParaRPr lang="zh-HK" altLang="en-US" sz="1600">
              <a:solidFill>
                <a:srgbClr val="595959"/>
              </a:solidFill>
              <a:latin typeface="TVOCAF+MicrosoftYaHei" panose="02000500000000000000"/>
            </a:endParaRPr>
          </a:p>
        </p:txBody>
      </p:sp>
      <p:pic>
        <p:nvPicPr>
          <p:cNvPr id="11271" name="圖片 -2147482611"/>
          <p:cNvPicPr>
            <a:picLocks noChangeAspect="1"/>
          </p:cNvPicPr>
          <p:nvPr/>
        </p:nvPicPr>
        <p:blipFill>
          <a:blip r:embed="rId1"/>
          <a:stretch>
            <a:fillRect/>
          </a:stretch>
        </p:blipFill>
        <p:spPr>
          <a:xfrm>
            <a:off x="2063750" y="1268413"/>
            <a:ext cx="7796213" cy="2422525"/>
          </a:xfrm>
          <a:prstGeom prst="rect">
            <a:avLst/>
          </a:prstGeom>
          <a:noFill/>
          <a:ln w="9525">
            <a:noFill/>
          </a:ln>
        </p:spPr>
      </p:pic>
      <p:sp>
        <p:nvSpPr>
          <p:cNvPr id="11272" name="文字框 5"/>
          <p:cNvSpPr txBox="1"/>
          <p:nvPr/>
        </p:nvSpPr>
        <p:spPr>
          <a:xfrm>
            <a:off x="493713" y="646113"/>
            <a:ext cx="3357562" cy="368300"/>
          </a:xfrm>
          <a:prstGeom prst="rect">
            <a:avLst/>
          </a:prstGeom>
          <a:noFill/>
          <a:ln w="9525">
            <a:noFill/>
          </a:ln>
        </p:spPr>
        <p:txBody>
          <a:bodyPr wrap="square" anchor="t" anchorCtr="0">
            <a:spAutoFit/>
          </a:bodyPr>
          <a:p>
            <a:r>
              <a:rPr lang="zh-CN" altLang="zh-HK">
                <a:solidFill>
                  <a:schemeClr val="bg1"/>
                </a:solidFill>
                <a:latin typeface="Calibri" panose="020F0502020204030204"/>
              </a:rPr>
              <a:t>基于</a:t>
            </a:r>
            <a:r>
              <a:rPr lang="en-US" altLang="zh-CN">
                <a:solidFill>
                  <a:schemeClr val="bg1"/>
                </a:solidFill>
                <a:latin typeface="Calibri" panose="020F0502020204030204"/>
              </a:rPr>
              <a:t>FRKGAT</a:t>
            </a:r>
            <a:r>
              <a:rPr lang="zh-CN" altLang="en-US">
                <a:solidFill>
                  <a:schemeClr val="bg1"/>
                </a:solidFill>
                <a:latin typeface="Calibri" panose="020F0502020204030204"/>
              </a:rPr>
              <a:t>的一轮算法流程</a:t>
            </a:r>
            <a:endParaRPr lang="zh-CN" altLang="en-US">
              <a:solidFill>
                <a:schemeClr val="bg1"/>
              </a:solidFill>
              <a:latin typeface="Calibri" panose="020F0502020204030204"/>
            </a:endParaRPr>
          </a:p>
        </p:txBody>
      </p:sp>
      <p:sp>
        <p:nvSpPr>
          <p:cNvPr id="11273" name="文字框 5"/>
          <p:cNvSpPr txBox="1"/>
          <p:nvPr/>
        </p:nvSpPr>
        <p:spPr>
          <a:xfrm>
            <a:off x="620713" y="773113"/>
            <a:ext cx="3357562" cy="368300"/>
          </a:xfrm>
          <a:prstGeom prst="rect">
            <a:avLst/>
          </a:prstGeom>
          <a:noFill/>
          <a:ln w="9525">
            <a:noFill/>
          </a:ln>
        </p:spPr>
        <p:txBody>
          <a:bodyPr wrap="square" anchor="t" anchorCtr="0">
            <a:spAutoFit/>
          </a:bodyPr>
          <a:p>
            <a:r>
              <a:rPr lang="zh-CN" altLang="zh-HK">
                <a:solidFill>
                  <a:schemeClr val="bg1"/>
                </a:solidFill>
                <a:latin typeface="Calibri" panose="020F0502020204030204"/>
              </a:rPr>
              <a:t>基于</a:t>
            </a:r>
            <a:r>
              <a:rPr lang="en-US" altLang="zh-CN">
                <a:solidFill>
                  <a:schemeClr val="bg1"/>
                </a:solidFill>
                <a:latin typeface="Calibri" panose="020F0502020204030204"/>
              </a:rPr>
              <a:t>FRKGAT</a:t>
            </a:r>
            <a:r>
              <a:rPr lang="zh-CN" altLang="en-US">
                <a:solidFill>
                  <a:schemeClr val="bg1"/>
                </a:solidFill>
                <a:latin typeface="Calibri" panose="020F0502020204030204"/>
              </a:rPr>
              <a:t>的一轮算法流程</a:t>
            </a:r>
            <a:endParaRPr lang="zh-CN" altLang="en-US">
              <a:solidFill>
                <a:schemeClr val="bg1"/>
              </a:solidFill>
              <a:latin typeface="Calibri" panose="020F0502020204030204"/>
            </a:endParaRPr>
          </a:p>
        </p:txBody>
      </p:sp>
      <p:sp>
        <p:nvSpPr>
          <p:cNvPr id="11274" name="文字框 5"/>
          <p:cNvSpPr txBox="1"/>
          <p:nvPr/>
        </p:nvSpPr>
        <p:spPr>
          <a:xfrm>
            <a:off x="747713" y="900113"/>
            <a:ext cx="3357562" cy="368300"/>
          </a:xfrm>
          <a:prstGeom prst="rect">
            <a:avLst/>
          </a:prstGeom>
          <a:noFill/>
          <a:ln w="9525">
            <a:noFill/>
          </a:ln>
        </p:spPr>
        <p:txBody>
          <a:bodyPr wrap="square" anchor="t" anchorCtr="0">
            <a:spAutoFit/>
          </a:bodyPr>
          <a:p>
            <a:r>
              <a:rPr lang="zh-CN" altLang="zh-HK">
                <a:solidFill>
                  <a:schemeClr val="bg1"/>
                </a:solidFill>
                <a:latin typeface="Calibri" panose="020F0502020204030204"/>
              </a:rPr>
              <a:t>基于</a:t>
            </a:r>
            <a:r>
              <a:rPr lang="en-US" altLang="zh-CN">
                <a:solidFill>
                  <a:schemeClr val="bg1"/>
                </a:solidFill>
                <a:latin typeface="Calibri" panose="020F0502020204030204"/>
              </a:rPr>
              <a:t>FRKGAT</a:t>
            </a:r>
            <a:r>
              <a:rPr lang="zh-CN" altLang="en-US">
                <a:solidFill>
                  <a:schemeClr val="bg1"/>
                </a:solidFill>
                <a:latin typeface="Calibri" panose="020F0502020204030204"/>
              </a:rPr>
              <a:t>的一轮算法流程</a:t>
            </a:r>
            <a:endParaRPr lang="zh-CN" altLang="en-US">
              <a:solidFill>
                <a:schemeClr val="bg1"/>
              </a:solidFill>
              <a:latin typeface="Calibri" panose="020F0502020204030204"/>
            </a:endParaRPr>
          </a:p>
        </p:txBody>
      </p:sp>
      <p:pic>
        <p:nvPicPr>
          <p:cNvPr id="11275" name="圖片 4"/>
          <p:cNvPicPr>
            <a:picLocks noChangeAspect="1"/>
          </p:cNvPicPr>
          <p:nvPr/>
        </p:nvPicPr>
        <p:blipFill>
          <a:blip r:embed="rId2"/>
          <a:stretch>
            <a:fillRect/>
          </a:stretch>
        </p:blipFill>
        <p:spPr>
          <a:xfrm>
            <a:off x="190500" y="476250"/>
            <a:ext cx="3962400" cy="708025"/>
          </a:xfrm>
          <a:prstGeom prst="rect">
            <a:avLst/>
          </a:prstGeom>
          <a:noFill/>
          <a:ln w="9525">
            <a:noFill/>
          </a:ln>
        </p:spPr>
      </p:pic>
      <p:sp>
        <p:nvSpPr>
          <p:cNvPr id="11276" name="文字框 5"/>
          <p:cNvSpPr txBox="1"/>
          <p:nvPr/>
        </p:nvSpPr>
        <p:spPr>
          <a:xfrm>
            <a:off x="334963" y="646113"/>
            <a:ext cx="3732212" cy="368300"/>
          </a:xfrm>
          <a:prstGeom prst="rect">
            <a:avLst/>
          </a:prstGeom>
          <a:noFill/>
          <a:ln w="9525">
            <a:noFill/>
          </a:ln>
        </p:spPr>
        <p:txBody>
          <a:bodyPr wrap="square" anchor="t" anchorCtr="0">
            <a:spAutoFit/>
          </a:bodyPr>
          <a:p>
            <a:r>
              <a:rPr lang="zh-CN" altLang="zh-HK">
                <a:solidFill>
                  <a:schemeClr val="bg1"/>
                </a:solidFill>
                <a:latin typeface="Calibri" panose="020F0502020204030204"/>
              </a:rPr>
              <a:t>基于</a:t>
            </a:r>
            <a:r>
              <a:rPr lang="zh-HK" altLang="en-US">
                <a:solidFill>
                  <a:schemeClr val="bg1"/>
                </a:solidFill>
                <a:latin typeface="TVOCAF+MicrosoftYaHei" panose="02000500000000000000"/>
              </a:rPr>
              <a:t>知识图注意力网络</a:t>
            </a:r>
            <a:r>
              <a:rPr lang="zh-CN" altLang="en-US">
                <a:solidFill>
                  <a:schemeClr val="bg1"/>
                </a:solidFill>
                <a:latin typeface="Calibri" panose="020F0502020204030204"/>
              </a:rPr>
              <a:t>的优化算法</a:t>
            </a:r>
            <a:endParaRPr lang="zh-CN" altLang="en-US">
              <a:solidFill>
                <a:schemeClr val="bg1"/>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289" name="object 3"/>
          <p:cNvSpPr/>
          <p:nvPr/>
        </p:nvSpPr>
        <p:spPr>
          <a:xfrm>
            <a:off x="10199688" y="117475"/>
            <a:ext cx="1976437" cy="1290638"/>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2290" name="object 4"/>
          <p:cNvSpPr/>
          <p:nvPr/>
        </p:nvSpPr>
        <p:spPr>
          <a:xfrm>
            <a:off x="5241925" y="246063"/>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2291" name="object 5"/>
          <p:cNvSpPr/>
          <p:nvPr/>
        </p:nvSpPr>
        <p:spPr>
          <a:xfrm>
            <a:off x="989013" y="1101725"/>
            <a:ext cx="5676900" cy="646113"/>
          </a:xfrm>
          <a:prstGeom prst="rect">
            <a:avLst/>
          </a:prstGeom>
          <a:noFill/>
          <a:ln w="9525">
            <a:noFill/>
          </a:ln>
        </p:spPr>
        <p:txBody>
          <a:bodyPr wrap="square" lIns="0" tIns="0" rIns="0" bIns="0" anchor="t" anchorCtr="0"/>
          <a:p>
            <a:pPr>
              <a:lnSpc>
                <a:spcPts val="2090"/>
              </a:lnSpc>
            </a:pPr>
            <a:r>
              <a:rPr lang="zh-CN" altLang="en-US" sz="2000">
                <a:solidFill>
                  <a:srgbClr val="FFFFFF"/>
                </a:solidFill>
                <a:latin typeface="TVOCAF+MicrosoftYaHei" panose="02000500000000000000"/>
              </a:rPr>
              <a:t>基于</a:t>
            </a:r>
            <a:r>
              <a:rPr lang="en-US" altLang="zh-HK" sz="2000">
                <a:solidFill>
                  <a:srgbClr val="FFFFFF"/>
                </a:solidFill>
                <a:latin typeface="TVOCAF+MicrosoftYaHei" panose="02000500000000000000"/>
              </a:rPr>
              <a:t>FRKGAT</a:t>
            </a:r>
            <a:r>
              <a:rPr lang="zh-CN" altLang="en-US" sz="2000">
                <a:solidFill>
                  <a:srgbClr val="FFFFFF"/>
                </a:solidFill>
                <a:latin typeface="TVOCAF+MicrosoftYaHei" panose="02000500000000000000"/>
              </a:rPr>
              <a:t>的</a:t>
            </a:r>
            <a:r>
              <a:rPr lang="zh-HK" altLang="en-US" sz="2000">
                <a:solidFill>
                  <a:srgbClr val="FFFFFF"/>
                </a:solidFill>
                <a:latin typeface="TVOCAF+MicrosoftYaHei" panose="02000500000000000000"/>
              </a:rPr>
              <a:t>算法</a:t>
            </a:r>
            <a:endParaRPr lang="zh-HK" altLang="en-US" sz="2000">
              <a:solidFill>
                <a:srgbClr val="FFFFFF"/>
              </a:solidFill>
              <a:latin typeface="TVOCAF+MicrosoftYaHei" panose="02000500000000000000"/>
            </a:endParaRPr>
          </a:p>
        </p:txBody>
      </p:sp>
      <p:pic>
        <p:nvPicPr>
          <p:cNvPr id="12292" name="圖片 -2147482614"/>
          <p:cNvPicPr>
            <a:picLocks noChangeAspect="1"/>
          </p:cNvPicPr>
          <p:nvPr/>
        </p:nvPicPr>
        <p:blipFill>
          <a:blip r:embed="rId1"/>
          <a:stretch>
            <a:fillRect/>
          </a:stretch>
        </p:blipFill>
        <p:spPr>
          <a:xfrm>
            <a:off x="3143250" y="1225550"/>
            <a:ext cx="5184775" cy="3170238"/>
          </a:xfrm>
          <a:prstGeom prst="rect">
            <a:avLst/>
          </a:prstGeom>
          <a:noFill/>
          <a:ln w="9525">
            <a:noFill/>
          </a:ln>
        </p:spPr>
      </p:pic>
      <p:sp>
        <p:nvSpPr>
          <p:cNvPr id="12293" name="文字框 1"/>
          <p:cNvSpPr txBox="1"/>
          <p:nvPr/>
        </p:nvSpPr>
        <p:spPr>
          <a:xfrm>
            <a:off x="371475" y="4940300"/>
            <a:ext cx="11409363" cy="1630363"/>
          </a:xfrm>
          <a:prstGeom prst="rect">
            <a:avLst/>
          </a:prstGeom>
          <a:noFill/>
          <a:ln w="9525">
            <a:noFill/>
          </a:ln>
        </p:spPr>
        <p:txBody>
          <a:bodyPr wrap="square" anchor="t" anchorCtr="0">
            <a:spAutoFit/>
          </a:bodyPr>
          <a:p>
            <a:pPr indent="457200">
              <a:lnSpc>
                <a:spcPct val="125000"/>
              </a:lnSpc>
            </a:pPr>
            <a:r>
              <a:rPr lang="zh-HK" altLang="en-US" sz="1600">
                <a:latin typeface="Arial" panose="020B0604020202020204" pitchFamily="34" charset="0"/>
              </a:rPr>
              <a:t>在一轮联邦学习流程中，服务器首先利用公开项目数据集构建知识图谱并初始化全局模型的</a:t>
            </a:r>
            <a:r>
              <a:rPr lang="en-US" altLang="zh-HK" sz="1600">
                <a:latin typeface="Arial" panose="020B0604020202020204" pitchFamily="34" charset="0"/>
              </a:rPr>
              <a:t>item</a:t>
            </a:r>
            <a:r>
              <a:rPr lang="zh-HK" altLang="en-US" sz="1600">
                <a:latin typeface="Arial" panose="020B0604020202020204" pitchFamily="34" charset="0"/>
              </a:rPr>
              <a:t>因子矩阵。客户端下载模型后，利用本地数据和</a:t>
            </a:r>
            <a:r>
              <a:rPr lang="en-US" altLang="zh-HK" sz="1600">
                <a:latin typeface="Arial" panose="020B0604020202020204" pitchFamily="34" charset="0"/>
              </a:rPr>
              <a:t>item</a:t>
            </a:r>
            <a:r>
              <a:rPr lang="zh-HK" altLang="en-US" sz="1600">
                <a:latin typeface="Arial" panose="020B0604020202020204" pitchFamily="34" charset="0"/>
              </a:rPr>
              <a:t>因子矩阵更新本地用户因子矩阵，并通过加密算法向服务器发送</a:t>
            </a:r>
            <a:r>
              <a:rPr lang="en-US" altLang="zh-HK" sz="1600">
                <a:latin typeface="Arial" panose="020B0604020202020204" pitchFamily="34" charset="0"/>
              </a:rPr>
              <a:t>user-item</a:t>
            </a:r>
            <a:r>
              <a:rPr lang="zh-HK" altLang="en-US" sz="1600">
                <a:latin typeface="Arial" panose="020B0604020202020204" pitchFamily="34" charset="0"/>
              </a:rPr>
              <a:t>交互数据。服务器对知识图谱进行多跳信息采样，向客户端发送加密的采样子图。客户端利用该子图和本地</a:t>
            </a:r>
            <a:r>
              <a:rPr lang="en-US" altLang="zh-HK" sz="1600">
                <a:latin typeface="Arial" panose="020B0604020202020204" pitchFamily="34" charset="0"/>
              </a:rPr>
              <a:t>user-item</a:t>
            </a:r>
            <a:r>
              <a:rPr lang="zh-HK" altLang="en-US" sz="1600">
                <a:latin typeface="Arial" panose="020B0604020202020204" pitchFamily="34" charset="0"/>
              </a:rPr>
              <a:t>数据构建局部知识子图，通过注意机制传播学习多跳信息，并进行预测与验证，随后上传训练后的嵌入梯度和模型梯度。服务器聚合客户端上传的局部模型和嵌入梯度，更新全局模型和知识图谱，完成一轮联邦学习</a:t>
            </a:r>
            <a:r>
              <a:rPr lang="zh-CN" altLang="zh-HK" sz="1600">
                <a:latin typeface="Arial" panose="020B0604020202020204" pitchFamily="34" charset="0"/>
                <a:ea typeface="宋体" panose="02010600030101010101" pitchFamily="2" charset="-122"/>
              </a:rPr>
              <a:t>。</a:t>
            </a:r>
            <a:endParaRPr lang="zh-CN" altLang="zh-HK" sz="1600">
              <a:latin typeface="Arial" panose="020B0604020202020204" pitchFamily="34" charset="0"/>
              <a:ea typeface="宋体" panose="02010600030101010101" pitchFamily="2" charset="-122"/>
            </a:endParaRPr>
          </a:p>
        </p:txBody>
      </p:sp>
      <p:sp>
        <p:nvSpPr>
          <p:cNvPr id="12294" name="文字框 2"/>
          <p:cNvSpPr txBox="1"/>
          <p:nvPr/>
        </p:nvSpPr>
        <p:spPr>
          <a:xfrm>
            <a:off x="4367213" y="4437063"/>
            <a:ext cx="6096000" cy="277812"/>
          </a:xfrm>
          <a:prstGeom prst="rect">
            <a:avLst/>
          </a:prstGeom>
          <a:noFill/>
          <a:ln w="9525">
            <a:noFill/>
          </a:ln>
        </p:spPr>
        <p:txBody>
          <a:bodyPr wrap="square" anchor="t" anchorCtr="0">
            <a:spAutoFit/>
          </a:bodyPr>
          <a:p>
            <a:pPr>
              <a:lnSpc>
                <a:spcPts val="1465"/>
              </a:lnSpc>
            </a:pPr>
            <a:r>
              <a:rPr lang="zh-HK" altLang="en-US" sz="1400">
                <a:solidFill>
                  <a:srgbClr val="000000"/>
                </a:solidFill>
                <a:latin typeface="TVOCAF+MicrosoftYaHei" panose="02000500000000000000"/>
              </a:rPr>
              <a:t>图</a:t>
            </a:r>
            <a:r>
              <a:rPr lang="zh-CN" altLang="zh-HK" sz="1400">
                <a:solidFill>
                  <a:srgbClr val="000000"/>
                </a:solidFill>
                <a:latin typeface="TVOCAF+MicrosoftYaHei" panose="02000500000000000000"/>
              </a:rPr>
              <a:t>二</a:t>
            </a:r>
            <a:r>
              <a:rPr lang="zh-HK" altLang="en-US" sz="1400">
                <a:solidFill>
                  <a:srgbClr val="000000"/>
                </a:solidFill>
                <a:latin typeface="TVOCAF+MicrosoftYaHei" panose="02000500000000000000"/>
              </a:rPr>
              <a:t> 基于</a:t>
            </a:r>
            <a:r>
              <a:rPr lang="en-US" altLang="zh-HK" sz="1400">
                <a:solidFill>
                  <a:srgbClr val="000000"/>
                </a:solidFill>
                <a:latin typeface="TVOCAF+MicrosoftYaHei" panose="02000500000000000000"/>
              </a:rPr>
              <a:t>FRKGAT</a:t>
            </a:r>
            <a:r>
              <a:rPr lang="zh-CN" altLang="en-US" sz="1400">
                <a:solidFill>
                  <a:srgbClr val="000000"/>
                </a:solidFill>
                <a:latin typeface="TVOCAF+MicrosoftYaHei" panose="02000500000000000000"/>
              </a:rPr>
              <a:t>的一轮算法流程</a:t>
            </a:r>
            <a:endParaRPr lang="zh-CN" altLang="en-US" sz="1400">
              <a:solidFill>
                <a:srgbClr val="000000"/>
              </a:solidFill>
              <a:latin typeface="TVOCAF+MicrosoftYaHei" panose="02000500000000000000"/>
            </a:endParaRPr>
          </a:p>
        </p:txBody>
      </p:sp>
      <p:pic>
        <p:nvPicPr>
          <p:cNvPr id="12295" name="圖片 4"/>
          <p:cNvPicPr>
            <a:picLocks noChangeAspect="1"/>
          </p:cNvPicPr>
          <p:nvPr/>
        </p:nvPicPr>
        <p:blipFill>
          <a:blip r:embed="rId2"/>
          <a:stretch>
            <a:fillRect/>
          </a:stretch>
        </p:blipFill>
        <p:spPr>
          <a:xfrm>
            <a:off x="190500" y="476250"/>
            <a:ext cx="3962400" cy="708025"/>
          </a:xfrm>
          <a:prstGeom prst="rect">
            <a:avLst/>
          </a:prstGeom>
          <a:noFill/>
          <a:ln w="9525">
            <a:noFill/>
          </a:ln>
        </p:spPr>
      </p:pic>
      <p:sp>
        <p:nvSpPr>
          <p:cNvPr id="12296" name="文字框 5"/>
          <p:cNvSpPr txBox="1"/>
          <p:nvPr/>
        </p:nvSpPr>
        <p:spPr>
          <a:xfrm>
            <a:off x="493713" y="646113"/>
            <a:ext cx="3357562" cy="368300"/>
          </a:xfrm>
          <a:prstGeom prst="rect">
            <a:avLst/>
          </a:prstGeom>
          <a:noFill/>
          <a:ln w="9525">
            <a:noFill/>
          </a:ln>
        </p:spPr>
        <p:txBody>
          <a:bodyPr wrap="square" anchor="t" anchorCtr="0">
            <a:spAutoFit/>
          </a:bodyPr>
          <a:p>
            <a:r>
              <a:rPr lang="zh-CN" altLang="zh-HK">
                <a:solidFill>
                  <a:schemeClr val="bg1"/>
                </a:solidFill>
                <a:latin typeface="Calibri" panose="020F0502020204030204"/>
              </a:rPr>
              <a:t>基于</a:t>
            </a:r>
            <a:r>
              <a:rPr lang="en-US" altLang="zh-CN">
                <a:solidFill>
                  <a:schemeClr val="bg1"/>
                </a:solidFill>
                <a:latin typeface="Calibri" panose="020F0502020204030204"/>
              </a:rPr>
              <a:t>FRKGAT</a:t>
            </a:r>
            <a:r>
              <a:rPr lang="zh-CN" altLang="en-US">
                <a:solidFill>
                  <a:schemeClr val="bg1"/>
                </a:solidFill>
                <a:latin typeface="Calibri" panose="020F0502020204030204"/>
              </a:rPr>
              <a:t>的一轮算法流程</a:t>
            </a:r>
            <a:endParaRPr lang="zh-CN" altLang="en-US">
              <a:solidFill>
                <a:schemeClr val="bg1"/>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object 3"/>
          <p:cNvSpPr/>
          <p:nvPr/>
        </p:nvSpPr>
        <p:spPr>
          <a:xfrm>
            <a:off x="10199688" y="117475"/>
            <a:ext cx="1976437" cy="1290638"/>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2290" name="object 4"/>
          <p:cNvSpPr/>
          <p:nvPr/>
        </p:nvSpPr>
        <p:spPr>
          <a:xfrm>
            <a:off x="5241925" y="246380"/>
            <a:ext cx="3741420" cy="902970"/>
          </a:xfrm>
          <a:prstGeom prst="rect">
            <a:avLst/>
          </a:prstGeom>
          <a:noFill/>
          <a:ln w="9525">
            <a:noFill/>
          </a:ln>
        </p:spPr>
        <p:txBody>
          <a:bodyPr wrap="square" lIns="0" tIns="0" rIns="0" bIns="0" anchor="t" anchorCtr="0"/>
          <a:p>
            <a:pPr>
              <a:lnSpc>
                <a:spcPts val="2900"/>
              </a:lnSpc>
            </a:pPr>
            <a:r>
              <a:rPr lang="zh-CN" altLang="zh-HK" sz="2800">
                <a:solidFill>
                  <a:srgbClr val="535353"/>
                </a:solidFill>
                <a:latin typeface="TVOCAF+MicrosoftYaHei" panose="02000500000000000000"/>
              </a:rPr>
              <a:t>实验</a:t>
            </a:r>
            <a:r>
              <a:rPr lang="zh-CN" altLang="zh-HK" sz="2800">
                <a:solidFill>
                  <a:srgbClr val="535353"/>
                </a:solidFill>
                <a:latin typeface="TVOCAF+MicrosoftYaHei" panose="02000500000000000000"/>
              </a:rPr>
              <a:t>效果</a:t>
            </a:r>
            <a:endParaRPr lang="zh-CN" altLang="zh-HK" sz="2800">
              <a:solidFill>
                <a:srgbClr val="535353"/>
              </a:solidFill>
              <a:latin typeface="TVOCAF+MicrosoftYaHei" panose="02000500000000000000"/>
            </a:endParaRPr>
          </a:p>
        </p:txBody>
      </p:sp>
      <p:sp>
        <p:nvSpPr>
          <p:cNvPr id="12291" name="object 5"/>
          <p:cNvSpPr/>
          <p:nvPr/>
        </p:nvSpPr>
        <p:spPr>
          <a:xfrm>
            <a:off x="989013" y="1101725"/>
            <a:ext cx="5676900" cy="646113"/>
          </a:xfrm>
          <a:prstGeom prst="rect">
            <a:avLst/>
          </a:prstGeom>
          <a:noFill/>
          <a:ln w="9525">
            <a:noFill/>
          </a:ln>
        </p:spPr>
        <p:txBody>
          <a:bodyPr wrap="square" lIns="0" tIns="0" rIns="0" bIns="0" anchor="t" anchorCtr="0"/>
          <a:p>
            <a:pPr>
              <a:lnSpc>
                <a:spcPts val="2090"/>
              </a:lnSpc>
            </a:pPr>
            <a:r>
              <a:rPr lang="zh-CN" altLang="en-US" sz="2000">
                <a:solidFill>
                  <a:srgbClr val="FFFFFF"/>
                </a:solidFill>
                <a:latin typeface="TVOCAF+MicrosoftYaHei" panose="02000500000000000000"/>
              </a:rPr>
              <a:t>基于</a:t>
            </a:r>
            <a:r>
              <a:rPr lang="en-US" altLang="zh-HK" sz="2000">
                <a:solidFill>
                  <a:srgbClr val="FFFFFF"/>
                </a:solidFill>
                <a:latin typeface="TVOCAF+MicrosoftYaHei" panose="02000500000000000000"/>
              </a:rPr>
              <a:t>FRKGAT</a:t>
            </a:r>
            <a:r>
              <a:rPr lang="zh-CN" altLang="en-US" sz="2000">
                <a:solidFill>
                  <a:srgbClr val="FFFFFF"/>
                </a:solidFill>
                <a:latin typeface="TVOCAF+MicrosoftYaHei" panose="02000500000000000000"/>
              </a:rPr>
              <a:t>的</a:t>
            </a:r>
            <a:r>
              <a:rPr lang="zh-HK" altLang="en-US" sz="2000">
                <a:solidFill>
                  <a:srgbClr val="FFFFFF"/>
                </a:solidFill>
                <a:latin typeface="TVOCAF+MicrosoftYaHei" panose="02000500000000000000"/>
              </a:rPr>
              <a:t>算法</a:t>
            </a:r>
            <a:endParaRPr lang="zh-HK" altLang="en-US" sz="2000">
              <a:solidFill>
                <a:srgbClr val="FFFFFF"/>
              </a:solidFill>
              <a:latin typeface="TVOCAF+MicrosoftYaHei" panose="02000500000000000000"/>
            </a:endParaRPr>
          </a:p>
        </p:txBody>
      </p:sp>
      <p:pic>
        <p:nvPicPr>
          <p:cNvPr id="12295" name="圖片 4"/>
          <p:cNvPicPr>
            <a:picLocks noChangeAspect="1"/>
          </p:cNvPicPr>
          <p:nvPr/>
        </p:nvPicPr>
        <p:blipFill>
          <a:blip r:embed="rId1"/>
          <a:stretch>
            <a:fillRect/>
          </a:stretch>
        </p:blipFill>
        <p:spPr>
          <a:xfrm>
            <a:off x="190500" y="476250"/>
            <a:ext cx="3962400" cy="708025"/>
          </a:xfrm>
          <a:prstGeom prst="rect">
            <a:avLst/>
          </a:prstGeom>
          <a:noFill/>
          <a:ln w="9525">
            <a:noFill/>
          </a:ln>
        </p:spPr>
      </p:pic>
      <p:sp>
        <p:nvSpPr>
          <p:cNvPr id="12296" name="文字框 5"/>
          <p:cNvSpPr txBox="1"/>
          <p:nvPr/>
        </p:nvSpPr>
        <p:spPr>
          <a:xfrm>
            <a:off x="493713" y="646113"/>
            <a:ext cx="3357562" cy="368300"/>
          </a:xfrm>
          <a:prstGeom prst="rect">
            <a:avLst/>
          </a:prstGeom>
          <a:noFill/>
          <a:ln w="9525">
            <a:noFill/>
          </a:ln>
        </p:spPr>
        <p:txBody>
          <a:bodyPr wrap="square" anchor="t" anchorCtr="0">
            <a:spAutoFit/>
          </a:bodyPr>
          <a:p>
            <a:r>
              <a:rPr lang="zh-CN" altLang="en-US">
                <a:solidFill>
                  <a:schemeClr val="bg1"/>
                </a:solidFill>
                <a:latin typeface="Calibri" panose="020F0502020204030204"/>
              </a:rPr>
              <a:t>实现</a:t>
            </a:r>
            <a:r>
              <a:rPr lang="zh-CN" altLang="en-US">
                <a:solidFill>
                  <a:schemeClr val="bg1"/>
                </a:solidFill>
                <a:latin typeface="Calibri" panose="020F0502020204030204"/>
              </a:rPr>
              <a:t>效果</a:t>
            </a:r>
            <a:endParaRPr lang="zh-CN" altLang="en-US">
              <a:solidFill>
                <a:schemeClr val="bg1"/>
              </a:solidFill>
              <a:latin typeface="Calibri" panose="020F0502020204030204"/>
            </a:endParaRPr>
          </a:p>
        </p:txBody>
      </p:sp>
      <p:sp>
        <p:nvSpPr>
          <p:cNvPr id="2" name="文字框 1"/>
          <p:cNvSpPr txBox="1"/>
          <p:nvPr/>
        </p:nvSpPr>
        <p:spPr>
          <a:xfrm>
            <a:off x="351790" y="1301115"/>
            <a:ext cx="11222990" cy="2641600"/>
          </a:xfrm>
          <a:prstGeom prst="rect">
            <a:avLst/>
          </a:prstGeom>
          <a:noFill/>
        </p:spPr>
        <p:txBody>
          <a:bodyPr wrap="square" rtlCol="0" anchor="t">
            <a:noAutofit/>
          </a:bodyPr>
          <a:p>
            <a:pPr marL="342900" indent="-342900">
              <a:buAutoNum type="arabicPeriod"/>
            </a:pPr>
            <a:endParaRPr lang="zh-CN" altLang="zh-HK"/>
          </a:p>
        </p:txBody>
      </p:sp>
      <p:pic>
        <p:nvPicPr>
          <p:cNvPr id="4" name="圖片 3"/>
          <p:cNvPicPr>
            <a:picLocks noChangeAspect="1"/>
          </p:cNvPicPr>
          <p:nvPr/>
        </p:nvPicPr>
        <p:blipFill>
          <a:blip r:embed="rId2"/>
          <a:stretch>
            <a:fillRect/>
          </a:stretch>
        </p:blipFill>
        <p:spPr>
          <a:xfrm>
            <a:off x="2351405" y="2637155"/>
            <a:ext cx="7216140" cy="3604260"/>
          </a:xfrm>
          <a:prstGeom prst="rect">
            <a:avLst/>
          </a:prstGeom>
        </p:spPr>
      </p:pic>
      <p:sp>
        <p:nvSpPr>
          <p:cNvPr id="5" name="文字框 4"/>
          <p:cNvSpPr txBox="1"/>
          <p:nvPr/>
        </p:nvSpPr>
        <p:spPr>
          <a:xfrm>
            <a:off x="693420" y="1224915"/>
            <a:ext cx="10947400" cy="922020"/>
          </a:xfrm>
          <a:prstGeom prst="rect">
            <a:avLst/>
          </a:prstGeom>
          <a:noFill/>
        </p:spPr>
        <p:txBody>
          <a:bodyPr wrap="square" rtlCol="0">
            <a:spAutoFit/>
          </a:bodyPr>
          <a:p>
            <a:r>
              <a:rPr lang="zh-CN" altLang="zh-HK"/>
              <a:t>目前在小规模</a:t>
            </a:r>
            <a:r>
              <a:rPr lang="zh-CN" altLang="zh-HK"/>
              <a:t>音乐数据集中验证算法效果，在</a:t>
            </a:r>
            <a:r>
              <a:rPr lang="en-US" altLang="zh-CN"/>
              <a:t>2000</a:t>
            </a:r>
            <a:r>
              <a:rPr lang="zh-CN" altLang="en-US"/>
              <a:t>个</a:t>
            </a:r>
            <a:r>
              <a:rPr lang="en-US" altLang="zh-CN"/>
              <a:t>common_round</a:t>
            </a:r>
            <a:r>
              <a:rPr lang="zh-CN" altLang="en-US"/>
              <a:t>中，</a:t>
            </a:r>
            <a:r>
              <a:rPr lang="en-US" altLang="zh-CN"/>
              <a:t>auc</a:t>
            </a:r>
            <a:r>
              <a:rPr lang="zh-CN" altLang="en-US"/>
              <a:t>和</a:t>
            </a:r>
            <a:r>
              <a:rPr lang="en-US" altLang="zh-CN"/>
              <a:t>f1</a:t>
            </a:r>
            <a:r>
              <a:rPr lang="zh-CN" altLang="en-US"/>
              <a:t>收敛。</a:t>
            </a:r>
            <a:endParaRPr lang="zh-CN" altLang="en-US"/>
          </a:p>
          <a:p>
            <a:endParaRPr lang="zh-CN" altLang="en-US"/>
          </a:p>
          <a:p>
            <a:r>
              <a:rPr lang="zh-CN" altLang="en-US"/>
              <a:t>实验</a:t>
            </a:r>
            <a:r>
              <a:rPr lang="zh-CN" altLang="en-US"/>
              <a:t>配置：大概</a:t>
            </a:r>
            <a:r>
              <a:rPr lang="en-US" altLang="zh-HK"/>
              <a:t> 22974</a:t>
            </a:r>
            <a:r>
              <a:rPr lang="zh-CN" altLang="en-US"/>
              <a:t>个客户端，</a:t>
            </a:r>
            <a:r>
              <a:rPr lang="en-US" altLang="zh-CN"/>
              <a:t>32</a:t>
            </a:r>
            <a:r>
              <a:rPr lang="zh-CN" altLang="en-US"/>
              <a:t>个</a:t>
            </a:r>
            <a:r>
              <a:rPr lang="en-US" altLang="zh-CN"/>
              <a:t>worker</a:t>
            </a:r>
            <a:r>
              <a:rPr lang="zh-CN" altLang="en-US">
                <a:ea typeface="宋体" panose="02010600030101010101" pitchFamily="2" charset="-122"/>
              </a:rPr>
              <a:t>，每轮选取</a:t>
            </a:r>
            <a:r>
              <a:rPr lang="en-US" altLang="zh-CN">
                <a:ea typeface="宋体" panose="02010600030101010101" pitchFamily="2" charset="-122"/>
              </a:rPr>
              <a:t>1065</a:t>
            </a:r>
            <a:r>
              <a:rPr lang="zh-CN" altLang="en-US">
                <a:ea typeface="宋体" panose="02010600030101010101" pitchFamily="2" charset="-122"/>
              </a:rPr>
              <a:t>个客户端，每轮</a:t>
            </a:r>
            <a:r>
              <a:rPr lang="en-US" altLang="zh-HK">
                <a:ea typeface="宋体" panose="02010600030101010101" pitchFamily="2" charset="-122"/>
              </a:rPr>
              <a:t>Total params</a:t>
            </a:r>
            <a:r>
              <a:rPr lang="zh-CN" altLang="en-US">
                <a:ea typeface="宋体" panose="02010600030101010101" pitchFamily="2" charset="-122"/>
              </a:rPr>
              <a:t>大概</a:t>
            </a:r>
            <a:r>
              <a:rPr lang="en-US" altLang="zh-HK">
                <a:ea typeface="宋体" panose="02010600030101010101" pitchFamily="2" charset="-122"/>
              </a:rPr>
              <a:t> 0.000417M</a:t>
            </a:r>
            <a:r>
              <a:rPr lang="zh-CN" altLang="en-US">
                <a:ea typeface="宋体" panose="02010600030101010101" pitchFamily="2" charset="-122"/>
              </a:rPr>
              <a:t>。</a:t>
            </a:r>
            <a:endParaRPr lang="zh-CN" altLang="en-US">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object 3"/>
          <p:cNvSpPr/>
          <p:nvPr/>
        </p:nvSpPr>
        <p:spPr>
          <a:xfrm>
            <a:off x="10199688" y="117475"/>
            <a:ext cx="1976437" cy="1290638"/>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3314" name="object 4"/>
          <p:cNvSpPr/>
          <p:nvPr/>
        </p:nvSpPr>
        <p:spPr>
          <a:xfrm>
            <a:off x="5241925" y="246063"/>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3315" name="object 5"/>
          <p:cNvSpPr/>
          <p:nvPr/>
        </p:nvSpPr>
        <p:spPr>
          <a:xfrm>
            <a:off x="989013" y="1101725"/>
            <a:ext cx="5676900" cy="646113"/>
          </a:xfrm>
          <a:prstGeom prst="rect">
            <a:avLst/>
          </a:prstGeom>
          <a:noFill/>
          <a:ln w="9525">
            <a:noFill/>
          </a:ln>
        </p:spPr>
        <p:txBody>
          <a:bodyPr wrap="square" lIns="0" tIns="0" rIns="0" bIns="0" anchor="t" anchorCtr="0"/>
          <a:p>
            <a:pPr>
              <a:lnSpc>
                <a:spcPts val="2090"/>
              </a:lnSpc>
            </a:pPr>
            <a:r>
              <a:rPr lang="zh-CN" altLang="en-US" sz="2000">
                <a:solidFill>
                  <a:srgbClr val="FFFFFF"/>
                </a:solidFill>
                <a:latin typeface="TVOCAF+MicrosoftYaHei" panose="02000500000000000000"/>
              </a:rPr>
              <a:t>基于</a:t>
            </a:r>
            <a:r>
              <a:rPr lang="en-US" altLang="zh-HK" sz="2000">
                <a:solidFill>
                  <a:srgbClr val="FFFFFF"/>
                </a:solidFill>
                <a:latin typeface="TVOCAF+MicrosoftYaHei" panose="02000500000000000000"/>
              </a:rPr>
              <a:t>FRKGAT</a:t>
            </a:r>
            <a:r>
              <a:rPr lang="zh-CN" altLang="en-US" sz="2000">
                <a:solidFill>
                  <a:srgbClr val="FFFFFF"/>
                </a:solidFill>
                <a:latin typeface="TVOCAF+MicrosoftYaHei" panose="02000500000000000000"/>
              </a:rPr>
              <a:t>的</a:t>
            </a:r>
            <a:r>
              <a:rPr lang="zh-HK" altLang="en-US" sz="2000">
                <a:solidFill>
                  <a:srgbClr val="FFFFFF"/>
                </a:solidFill>
                <a:latin typeface="TVOCAF+MicrosoftYaHei" panose="02000500000000000000"/>
              </a:rPr>
              <a:t>算法</a:t>
            </a:r>
            <a:endParaRPr lang="zh-HK" altLang="en-US" sz="2000">
              <a:solidFill>
                <a:srgbClr val="FFFFFF"/>
              </a:solidFill>
              <a:latin typeface="TVOCAF+MicrosoftYaHei" panose="02000500000000000000"/>
            </a:endParaRPr>
          </a:p>
        </p:txBody>
      </p:sp>
      <p:pic>
        <p:nvPicPr>
          <p:cNvPr id="13316" name="圖片 4"/>
          <p:cNvPicPr>
            <a:picLocks noChangeAspect="1"/>
          </p:cNvPicPr>
          <p:nvPr/>
        </p:nvPicPr>
        <p:blipFill>
          <a:blip r:embed="rId1"/>
          <a:stretch>
            <a:fillRect/>
          </a:stretch>
        </p:blipFill>
        <p:spPr>
          <a:xfrm>
            <a:off x="190500" y="476250"/>
            <a:ext cx="1639888" cy="708025"/>
          </a:xfrm>
          <a:prstGeom prst="rect">
            <a:avLst/>
          </a:prstGeom>
          <a:noFill/>
          <a:ln w="9525">
            <a:noFill/>
          </a:ln>
        </p:spPr>
      </p:pic>
      <p:sp>
        <p:nvSpPr>
          <p:cNvPr id="13317" name="文字框 5"/>
          <p:cNvSpPr txBox="1"/>
          <p:nvPr/>
        </p:nvSpPr>
        <p:spPr>
          <a:xfrm>
            <a:off x="371475" y="646113"/>
            <a:ext cx="2681288" cy="368300"/>
          </a:xfrm>
          <a:prstGeom prst="rect">
            <a:avLst/>
          </a:prstGeom>
          <a:noFill/>
          <a:ln w="9525">
            <a:noFill/>
          </a:ln>
        </p:spPr>
        <p:txBody>
          <a:bodyPr wrap="square" anchor="t" anchorCtr="0">
            <a:spAutoFit/>
          </a:bodyPr>
          <a:p>
            <a:r>
              <a:rPr lang="zh-CN" altLang="en-US">
                <a:solidFill>
                  <a:schemeClr val="bg1"/>
                </a:solidFill>
                <a:latin typeface="Calibri" panose="020F0502020204030204"/>
              </a:rPr>
              <a:t>动态量化</a:t>
            </a:r>
            <a:endParaRPr lang="zh-CN" altLang="en-US">
              <a:solidFill>
                <a:schemeClr val="bg1"/>
              </a:solidFill>
              <a:latin typeface="Calibri" panose="020F0502020204030204"/>
            </a:endParaRPr>
          </a:p>
        </p:txBody>
      </p:sp>
      <p:pic>
        <p:nvPicPr>
          <p:cNvPr id="13318" name="圖片 7"/>
          <p:cNvPicPr>
            <a:picLocks noChangeAspect="1"/>
          </p:cNvPicPr>
          <p:nvPr/>
        </p:nvPicPr>
        <p:blipFill>
          <a:blip r:embed="rId1"/>
          <a:stretch>
            <a:fillRect/>
          </a:stretch>
        </p:blipFill>
        <p:spPr>
          <a:xfrm>
            <a:off x="190500" y="3429000"/>
            <a:ext cx="1639888" cy="708025"/>
          </a:xfrm>
          <a:prstGeom prst="rect">
            <a:avLst/>
          </a:prstGeom>
          <a:noFill/>
          <a:ln w="9525">
            <a:noFill/>
          </a:ln>
        </p:spPr>
      </p:pic>
      <p:sp>
        <p:nvSpPr>
          <p:cNvPr id="13319" name="文字框 8"/>
          <p:cNvSpPr txBox="1"/>
          <p:nvPr/>
        </p:nvSpPr>
        <p:spPr>
          <a:xfrm>
            <a:off x="334963" y="3598863"/>
            <a:ext cx="2681287" cy="368300"/>
          </a:xfrm>
          <a:prstGeom prst="rect">
            <a:avLst/>
          </a:prstGeom>
          <a:noFill/>
          <a:ln w="9525">
            <a:noFill/>
          </a:ln>
        </p:spPr>
        <p:txBody>
          <a:bodyPr wrap="square" anchor="t" anchorCtr="0">
            <a:spAutoFit/>
          </a:bodyPr>
          <a:p>
            <a:r>
              <a:rPr lang="zh-CN" altLang="en-US">
                <a:solidFill>
                  <a:schemeClr val="bg1"/>
                </a:solidFill>
                <a:latin typeface="Calibri" panose="020F0502020204030204"/>
              </a:rPr>
              <a:t>自适应剪枝</a:t>
            </a:r>
            <a:endParaRPr lang="zh-CN" altLang="en-US">
              <a:solidFill>
                <a:schemeClr val="bg1"/>
              </a:solidFill>
              <a:latin typeface="Calibri" panose="020F0502020204030204"/>
            </a:endParaRPr>
          </a:p>
        </p:txBody>
      </p:sp>
      <p:sp>
        <p:nvSpPr>
          <p:cNvPr id="13320" name="文字框 10"/>
          <p:cNvSpPr txBox="1"/>
          <p:nvPr/>
        </p:nvSpPr>
        <p:spPr>
          <a:xfrm>
            <a:off x="263525" y="1252538"/>
            <a:ext cx="11091863" cy="2460625"/>
          </a:xfrm>
          <a:prstGeom prst="rect">
            <a:avLst/>
          </a:prstGeom>
          <a:noFill/>
          <a:ln w="9525">
            <a:noFill/>
          </a:ln>
        </p:spPr>
        <p:txBody>
          <a:bodyPr wrap="square" anchor="t" anchorCtr="0">
            <a:spAutoFit/>
          </a:bodyPr>
          <a:p>
            <a:r>
              <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rPr>
              <a:t>原理：</a:t>
            </a:r>
            <a:r>
              <a:rPr lang="zh-HK" altLang="en-US" dirty="0">
                <a:latin typeface="微软雅黑" panose="020B0503020204020204" charset="-122"/>
                <a:ea typeface="微软雅黑" panose="020B0503020204020204" charset="-122"/>
                <a:sym typeface="Arial" panose="020B0604020202020204" pitchFamily="34" charset="0"/>
              </a:rPr>
              <a:t>通过将浮点数梯度量化为低精度的数，</a:t>
            </a:r>
            <a:r>
              <a:rPr lang="zh-CN" altLang="zh-HK" dirty="0">
                <a:latin typeface="微软雅黑" panose="020B0503020204020204" charset="-122"/>
                <a:ea typeface="微软雅黑" panose="020B0503020204020204" charset="-122"/>
                <a:sym typeface="Arial" panose="020B0604020202020204" pitchFamily="34" charset="0"/>
              </a:rPr>
              <a:t>能</a:t>
            </a:r>
            <a:r>
              <a:rPr lang="zh-HK" altLang="en-US" dirty="0">
                <a:latin typeface="微软雅黑" panose="020B0503020204020204" charset="-122"/>
                <a:ea typeface="微软雅黑" panose="020B0503020204020204" charset="-122"/>
                <a:sym typeface="Arial" panose="020B0604020202020204" pitchFamily="34" charset="0"/>
              </a:rPr>
              <a:t>减少上传梯度的数据量，根据当前梯度数据的分布动态确定量化参数，从而实现对梯度的高效量化</a:t>
            </a:r>
            <a:r>
              <a:rPr lang="zh-CN" altLang="zh-HK" dirty="0">
                <a:latin typeface="微软雅黑" panose="020B0503020204020204" charset="-122"/>
                <a:ea typeface="微软雅黑" panose="020B0503020204020204" charset="-122"/>
                <a:sym typeface="Arial" panose="020B0604020202020204" pitchFamily="34" charset="0"/>
              </a:rPr>
              <a:t>。</a:t>
            </a:r>
            <a:endParaRPr lang="zh-HK"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a:p>
            <a:endPar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endParaRPr>
          </a:p>
          <a:p>
            <a:r>
              <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rPr>
              <a:t>方案：</a:t>
            </a:r>
            <a:r>
              <a:rPr lang="zh-HK" altLang="en-US" dirty="0">
                <a:latin typeface="楷体" panose="02010609060101010101" charset="-122"/>
                <a:ea typeface="楷体" panose="02010609060101010101" charset="-122"/>
                <a:sym typeface="Arial" panose="020B0604020202020204" pitchFamily="34" charset="0"/>
              </a:rPr>
              <a:t>客户端本地训练阶段：每次计算损失函数并求导得到梯度后，根据当前批次的梯度数据分布，按照预定的计算方式动态计算量化参数</a:t>
            </a:r>
            <a:r>
              <a:rPr lang="zh-CN" altLang="zh-HK" dirty="0">
                <a:latin typeface="楷体" panose="02010609060101010101" charset="-122"/>
                <a:ea typeface="楷体" panose="02010609060101010101" charset="-122"/>
                <a:sym typeface="Arial" panose="020B0604020202020204" pitchFamily="34" charset="0"/>
              </a:rPr>
              <a:t>，</a:t>
            </a:r>
            <a:r>
              <a:rPr lang="zh-HK" altLang="en-US" dirty="0">
                <a:latin typeface="楷体" panose="02010609060101010101" charset="-122"/>
                <a:ea typeface="楷体" panose="02010609060101010101" charset="-122"/>
                <a:sym typeface="Arial" panose="020B0604020202020204" pitchFamily="34" charset="0"/>
              </a:rPr>
              <a:t>利用计算得到的量化参数，将浮点数梯度值转换为对应的</a:t>
            </a:r>
            <a:r>
              <a:rPr lang="zh-CN" altLang="zh-HK" dirty="0">
                <a:latin typeface="楷体" panose="02010609060101010101" charset="-122"/>
                <a:ea typeface="楷体" panose="02010609060101010101" charset="-122"/>
                <a:sym typeface="Arial" panose="020B0604020202020204" pitchFamily="34" charset="0"/>
              </a:rPr>
              <a:t>精度</a:t>
            </a:r>
            <a:r>
              <a:rPr lang="zh-HK" altLang="en-US" dirty="0">
                <a:latin typeface="楷体" panose="02010609060101010101" charset="-122"/>
                <a:ea typeface="楷体" panose="02010609060101010101" charset="-122"/>
                <a:sym typeface="Arial" panose="020B0604020202020204" pitchFamily="34" charset="0"/>
              </a:rPr>
              <a:t>表示，完成量化操作</a:t>
            </a:r>
            <a:r>
              <a:rPr lang="zh-CN" altLang="zh-HK" dirty="0">
                <a:latin typeface="楷体" panose="02010609060101010101" charset="-122"/>
                <a:ea typeface="楷体" panose="02010609060101010101" charset="-122"/>
                <a:sym typeface="Arial" panose="020B0604020202020204" pitchFamily="34" charset="0"/>
              </a:rPr>
              <a:t>，上传</a:t>
            </a:r>
            <a:r>
              <a:rPr lang="zh-HK" altLang="en-US" dirty="0">
                <a:latin typeface="楷体" panose="02010609060101010101" charset="-122"/>
                <a:ea typeface="楷体" panose="02010609060101010101" charset="-122"/>
                <a:sym typeface="Arial" panose="020B0604020202020204" pitchFamily="34" charset="0"/>
              </a:rPr>
              <a:t>传输量化后的梯度</a:t>
            </a:r>
            <a:r>
              <a:rPr lang="zh-CN" altLang="zh-HK" dirty="0">
                <a:latin typeface="楷体" panose="02010609060101010101" charset="-122"/>
                <a:ea typeface="楷体" panose="02010609060101010101" charset="-122"/>
                <a:sym typeface="Arial" panose="020B0604020202020204" pitchFamily="34" charset="0"/>
              </a:rPr>
              <a:t>与</a:t>
            </a:r>
            <a:r>
              <a:rPr lang="zh-HK" altLang="en-US" dirty="0">
                <a:latin typeface="楷体" panose="02010609060101010101" charset="-122"/>
                <a:ea typeface="楷体" panose="02010609060101010101" charset="-122"/>
                <a:sym typeface="Arial" panose="020B0604020202020204" pitchFamily="34" charset="0"/>
              </a:rPr>
              <a:t>传输量化参数</a:t>
            </a:r>
            <a:r>
              <a:rPr lang="zh-CN" altLang="zh-HK" dirty="0">
                <a:latin typeface="楷体" panose="02010609060101010101" charset="-122"/>
                <a:ea typeface="楷体" panose="02010609060101010101" charset="-122"/>
                <a:sym typeface="Arial" panose="020B0604020202020204" pitchFamily="34" charset="0"/>
              </a:rPr>
              <a:t>，服务器在接受参数后进行反量化处理，然后再聚合</a:t>
            </a:r>
            <a:r>
              <a:rPr lang="zh-CN" altLang="zh-HK" dirty="0">
                <a:latin typeface="Arial" panose="020B0604020202020204" pitchFamily="34" charset="0"/>
                <a:ea typeface="微软雅黑" panose="020B0503020204020204" charset="-122"/>
                <a:sym typeface="Arial" panose="020B0604020202020204" pitchFamily="34" charset="0"/>
              </a:rPr>
              <a:t>。</a:t>
            </a:r>
            <a:endParaRPr lang="zh-HK" altLang="en-US" sz="2000" b="1" dirty="0">
              <a:solidFill>
                <a:schemeClr val="accent1"/>
              </a:solidFill>
              <a:latin typeface="Arial" panose="020B0604020202020204" pitchFamily="34" charset="0"/>
              <a:ea typeface="微软雅黑" panose="020B0503020204020204" charset="-122"/>
              <a:sym typeface="Arial" panose="020B0604020202020204" pitchFamily="34" charset="0"/>
            </a:endParaRPr>
          </a:p>
          <a:p>
            <a:endParaRPr lang="zh-CN"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a:p>
            <a:endParaRPr lang="zh-CN"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p:txBody>
      </p:sp>
      <p:sp>
        <p:nvSpPr>
          <p:cNvPr id="13321" name="文字框 11"/>
          <p:cNvSpPr txBox="1"/>
          <p:nvPr/>
        </p:nvSpPr>
        <p:spPr>
          <a:xfrm>
            <a:off x="334963" y="4221163"/>
            <a:ext cx="11091862" cy="2454275"/>
          </a:xfrm>
          <a:prstGeom prst="rect">
            <a:avLst/>
          </a:prstGeom>
          <a:noFill/>
          <a:ln w="9525">
            <a:noFill/>
          </a:ln>
        </p:spPr>
        <p:txBody>
          <a:bodyPr wrap="square" anchor="t" anchorCtr="0"/>
          <a:p>
            <a:r>
              <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rPr>
              <a:t>原理：</a:t>
            </a:r>
            <a:r>
              <a:rPr lang="zh-HK" altLang="en-US" dirty="0">
                <a:latin typeface="微软雅黑" panose="020B0503020204020204" charset="-122"/>
                <a:ea typeface="微软雅黑" panose="020B0503020204020204" charset="-122"/>
                <a:sym typeface="Arial" panose="020B0604020202020204" pitchFamily="34" charset="0"/>
              </a:rPr>
              <a:t>通过评估模型中各个参数</a:t>
            </a:r>
            <a:r>
              <a:rPr lang="zh-CN" altLang="zh-HK" dirty="0">
                <a:latin typeface="微软雅黑" panose="020B0503020204020204" charset="-122"/>
                <a:ea typeface="微软雅黑" panose="020B0503020204020204" charset="-122"/>
                <a:sym typeface="Arial" panose="020B0604020202020204" pitchFamily="34" charset="0"/>
              </a:rPr>
              <a:t>的参数的重要性，</a:t>
            </a:r>
            <a:r>
              <a:rPr lang="zh-HK" altLang="en-US" dirty="0">
                <a:latin typeface="微软雅黑" panose="020B0503020204020204" charset="-122"/>
                <a:ea typeface="微软雅黑" panose="020B0503020204020204" charset="-122"/>
                <a:sym typeface="Arial" panose="020B0604020202020204" pitchFamily="34" charset="0"/>
              </a:rPr>
              <a:t>去除那些对模型性能影响较小的部分，从而减少模型的复杂度和通信成本，同时尽量保持模型的推荐质量。</a:t>
            </a:r>
            <a:endParaRPr lang="zh-HK"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a:p>
            <a:endPar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endParaRPr>
          </a:p>
          <a:p>
            <a:r>
              <a:rPr lang="zh-CN" altLang="zh-HK" sz="2000" b="1" dirty="0">
                <a:solidFill>
                  <a:schemeClr val="accent1"/>
                </a:solidFill>
                <a:latin typeface="微软雅黑" panose="020B0503020204020204" charset="-122"/>
                <a:ea typeface="微软雅黑" panose="020B0503020204020204" charset="-122"/>
                <a:sym typeface="Arial" panose="020B0604020202020204" pitchFamily="34" charset="0"/>
              </a:rPr>
              <a:t>方案：</a:t>
            </a:r>
            <a:r>
              <a:rPr lang="zh-CN" altLang="zh-HK" dirty="0">
                <a:latin typeface="楷体" panose="02010609060101010101" charset="-122"/>
                <a:ea typeface="楷体" panose="02010609060101010101" charset="-122"/>
                <a:sym typeface="Arial" panose="020B0604020202020204" pitchFamily="34" charset="0"/>
              </a:rPr>
              <a:t>对量化后的数据进行剪枝，</a:t>
            </a:r>
            <a:r>
              <a:rPr lang="zh-HK" altLang="en-US" dirty="0">
                <a:latin typeface="楷体" panose="02010609060101010101" charset="-122"/>
                <a:ea typeface="楷体" panose="02010609060101010101" charset="-122"/>
                <a:sym typeface="Arial" panose="020B0604020202020204" pitchFamily="34" charset="0"/>
              </a:rPr>
              <a:t>在客户端本地，根据当前的模型参数和本地数据，计算每个参数的重要性得分。</a:t>
            </a:r>
            <a:r>
              <a:rPr lang="zh-CN" altLang="zh-HK" dirty="0">
                <a:latin typeface="楷体" panose="02010609060101010101" charset="-122"/>
                <a:ea typeface="楷体" panose="02010609060101010101" charset="-122"/>
                <a:sym typeface="Arial" panose="020B0604020202020204" pitchFamily="34" charset="0"/>
              </a:rPr>
              <a:t>根据</a:t>
            </a:r>
            <a:r>
              <a:rPr lang="en-US" altLang="zh-HK" dirty="0">
                <a:latin typeface="楷体" panose="02010609060101010101" charset="-122"/>
                <a:ea typeface="楷体" panose="02010609060101010101" charset="-122"/>
                <a:sym typeface="Arial" panose="020B0604020202020204" pitchFamily="34" charset="0"/>
              </a:rPr>
              <a:t> KGAT </a:t>
            </a:r>
            <a:r>
              <a:rPr lang="zh-HK" altLang="en-US" dirty="0">
                <a:latin typeface="楷体" panose="02010609060101010101" charset="-122"/>
                <a:ea typeface="楷体" panose="02010609060101010101" charset="-122"/>
                <a:sym typeface="Arial" panose="020B0604020202020204" pitchFamily="34" charset="0"/>
              </a:rPr>
              <a:t>中的嵌入层参数、注意力层参数等，分别计算其梯度的绝对值或权重的绝对值</a:t>
            </a:r>
            <a:r>
              <a:rPr lang="zh-CN" altLang="zh-HK" dirty="0">
                <a:latin typeface="楷体" panose="02010609060101010101" charset="-122"/>
                <a:ea typeface="楷体" panose="02010609060101010101" charset="-122"/>
                <a:sym typeface="Arial" panose="020B0604020202020204" pitchFamily="34" charset="0"/>
              </a:rPr>
              <a:t>、训练的轮次</a:t>
            </a:r>
            <a:r>
              <a:rPr lang="zh-HK" altLang="en-US" dirty="0">
                <a:latin typeface="楷体" panose="02010609060101010101" charset="-122"/>
                <a:ea typeface="楷体" panose="02010609060101010101" charset="-122"/>
                <a:sym typeface="Arial" panose="020B0604020202020204" pitchFamily="34" charset="0"/>
              </a:rPr>
              <a:t>等作为重要性指标</a:t>
            </a:r>
            <a:r>
              <a:rPr lang="zh-CN" altLang="zh-HK" dirty="0">
                <a:latin typeface="楷体" panose="02010609060101010101" charset="-122"/>
                <a:ea typeface="楷体" panose="02010609060101010101" charset="-122"/>
                <a:sym typeface="Arial" panose="020B0604020202020204" pitchFamily="34" charset="0"/>
              </a:rPr>
              <a:t>，并且动态</a:t>
            </a:r>
            <a:r>
              <a:rPr lang="zh-HK" altLang="en-US" dirty="0">
                <a:latin typeface="楷体" panose="02010609060101010101" charset="-122"/>
                <a:ea typeface="楷体" panose="02010609060101010101" charset="-122"/>
                <a:sym typeface="Arial" panose="020B0604020202020204" pitchFamily="34" charset="0"/>
              </a:rPr>
              <a:t>确定本次剪枝的比例</a:t>
            </a:r>
            <a:r>
              <a:rPr lang="zh-CN" altLang="zh-HK" dirty="0">
                <a:latin typeface="楷体" panose="02010609060101010101" charset="-122"/>
                <a:ea typeface="楷体" panose="02010609060101010101" charset="-122"/>
                <a:sym typeface="Arial" panose="020B0604020202020204" pitchFamily="34" charset="0"/>
              </a:rPr>
              <a:t>，</a:t>
            </a:r>
            <a:r>
              <a:rPr lang="zh-HK" altLang="en-US" dirty="0">
                <a:latin typeface="楷体" panose="02010609060101010101" charset="-122"/>
                <a:ea typeface="楷体" panose="02010609060101010101" charset="-122"/>
                <a:sym typeface="Arial" panose="020B0604020202020204" pitchFamily="34" charset="0"/>
              </a:rPr>
              <a:t>将重要性得分低于一定阈值的参数置为零或直接移除，得到剪枝后的本地模型</a:t>
            </a:r>
            <a:r>
              <a:rPr lang="zh-CN" altLang="zh-HK" dirty="0">
                <a:latin typeface="楷体" panose="02010609060101010101" charset="-122"/>
                <a:ea typeface="楷体" panose="02010609060101010101" charset="-122"/>
                <a:sym typeface="Arial" panose="020B0604020202020204" pitchFamily="34" charset="0"/>
              </a:rPr>
              <a:t>。</a:t>
            </a:r>
            <a:endParaRPr lang="zh-HK"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a:p>
            <a:endParaRPr lang="zh-CN"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a:p>
            <a:endParaRPr lang="zh-CN" altLang="en-US" sz="2000" b="1" dirty="0">
              <a:solidFill>
                <a:schemeClr val="accent1"/>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337" name="object 3"/>
          <p:cNvSpPr/>
          <p:nvPr/>
        </p:nvSpPr>
        <p:spPr>
          <a:xfrm>
            <a:off x="10215563" y="188913"/>
            <a:ext cx="1976437"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4338" name="object 4"/>
          <p:cNvSpPr/>
          <p:nvPr/>
        </p:nvSpPr>
        <p:spPr>
          <a:xfrm>
            <a:off x="5241925" y="246063"/>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4339" name="object 5"/>
          <p:cNvSpPr/>
          <p:nvPr/>
        </p:nvSpPr>
        <p:spPr>
          <a:xfrm>
            <a:off x="1322388" y="1101725"/>
            <a:ext cx="3221037" cy="646113"/>
          </a:xfrm>
          <a:prstGeom prst="rect">
            <a:avLst/>
          </a:prstGeom>
          <a:noFill/>
          <a:ln w="9525">
            <a:noFill/>
          </a:ln>
        </p:spPr>
        <p:txBody>
          <a:bodyPr wrap="square" lIns="0" tIns="0" rIns="0" bIns="0" anchor="t" anchorCtr="0"/>
          <a:p>
            <a:pPr>
              <a:lnSpc>
                <a:spcPts val="2090"/>
              </a:lnSpc>
            </a:pPr>
            <a:r>
              <a:rPr lang="zh-HK" altLang="en-US" sz="2000">
                <a:solidFill>
                  <a:srgbClr val="FFFFFF"/>
                </a:solidFill>
                <a:latin typeface="TVOCAF+MicrosoftYaHei" panose="02000500000000000000"/>
              </a:rPr>
              <a:t>图书个性化推荐系统架构</a:t>
            </a:r>
            <a:endParaRPr lang="zh-HK" altLang="en-US" sz="2000">
              <a:solidFill>
                <a:srgbClr val="FFFFFF"/>
              </a:solidFill>
              <a:latin typeface="TVOCAF+MicrosoftYaHei" panose="02000500000000000000"/>
            </a:endParaRPr>
          </a:p>
        </p:txBody>
      </p:sp>
      <p:sp>
        <p:nvSpPr>
          <p:cNvPr id="14340" name="object 6"/>
          <p:cNvSpPr/>
          <p:nvPr/>
        </p:nvSpPr>
        <p:spPr>
          <a:xfrm>
            <a:off x="5554663" y="1582738"/>
            <a:ext cx="5535612" cy="1466850"/>
          </a:xfrm>
          <a:prstGeom prst="rect">
            <a:avLst/>
          </a:prstGeom>
          <a:noFill/>
          <a:ln w="9525">
            <a:noFill/>
          </a:ln>
        </p:spPr>
        <p:txBody>
          <a:bodyPr wrap="square" lIns="0" tIns="0" rIns="0" bIns="0" anchor="t" anchorCtr="0"/>
          <a:p>
            <a:pPr marL="285750">
              <a:lnSpc>
                <a:spcPct val="125000"/>
              </a:lnSpc>
            </a:pPr>
            <a:r>
              <a:rPr lang="en-US" altLang="zh-HK" sz="1600">
                <a:solidFill>
                  <a:srgbClr val="595959"/>
                </a:solidFill>
                <a:latin typeface="NQUUDO+Wingdings-Regular" panose="02000500000000000000"/>
              </a:rPr>
              <a:t>Ø</a:t>
            </a:r>
            <a:r>
              <a:rPr lang="en-US" altLang="zh-HK" sz="1600">
                <a:solidFill>
                  <a:srgbClr val="595959"/>
                </a:solidFill>
                <a:latin typeface="Times New Roman" panose="02020603050405020304"/>
              </a:rPr>
              <a:t> </a:t>
            </a:r>
            <a:r>
              <a:rPr lang="zh-HK" altLang="en-US" sz="1600">
                <a:solidFill>
                  <a:srgbClr val="595959"/>
                </a:solidFill>
                <a:latin typeface="TVOCAF+MicrosoftYaHei" panose="02000500000000000000"/>
              </a:rPr>
              <a:t>表示层：表示层主要为前端的</a:t>
            </a:r>
            <a:r>
              <a:rPr lang="en-US" altLang="zh-HK" sz="1600">
                <a:solidFill>
                  <a:srgbClr val="595959"/>
                </a:solidFill>
                <a:latin typeface="TVOCAF+MicrosoftYaHei" panose="02000500000000000000"/>
              </a:rPr>
              <a:t> Web </a:t>
            </a:r>
            <a:r>
              <a:rPr lang="zh-HK" altLang="en-US" sz="1600">
                <a:solidFill>
                  <a:srgbClr val="595959"/>
                </a:solidFill>
                <a:latin typeface="TVOCAF+MicrosoftYaHei" panose="02000500000000000000"/>
              </a:rPr>
              <a:t>页面展示，将信息以文字或图片的形式展示给用户。主要采用</a:t>
            </a:r>
            <a:r>
              <a:rPr lang="en-US" altLang="zh-HK" sz="1600">
                <a:solidFill>
                  <a:srgbClr val="595959"/>
                </a:solidFill>
                <a:latin typeface="TVOCAF+MicrosoftYaHei" panose="02000500000000000000"/>
              </a:rPr>
              <a:t> React.js </a:t>
            </a:r>
            <a:r>
              <a:rPr lang="zh-HK" altLang="en-US" sz="1600">
                <a:solidFill>
                  <a:srgbClr val="595959"/>
                </a:solidFill>
                <a:latin typeface="TVOCAF+MicrosoftYaHei" panose="02000500000000000000"/>
              </a:rPr>
              <a:t>和</a:t>
            </a:r>
            <a:r>
              <a:rPr lang="en-US" altLang="zh-HK" sz="1600">
                <a:solidFill>
                  <a:srgbClr val="595959"/>
                </a:solidFill>
                <a:latin typeface="TVOCAF+MicrosoftYaHei" panose="02000500000000000000"/>
              </a:rPr>
              <a:t> Ant-design </a:t>
            </a:r>
            <a:r>
              <a:rPr lang="zh-HK" altLang="en-US" sz="1600">
                <a:solidFill>
                  <a:srgbClr val="595959"/>
                </a:solidFill>
                <a:latin typeface="TVOCAF+MicrosoftYaHei" panose="02000500000000000000"/>
              </a:rPr>
              <a:t>等前端技术进行展示界面设计，展示系统推荐出来的音乐推荐信息。</a:t>
            </a:r>
            <a:endParaRPr lang="zh-HK" altLang="en-US" sz="1600">
              <a:solidFill>
                <a:srgbClr val="595959"/>
              </a:solidFill>
              <a:latin typeface="TVOCAF+MicrosoftYaHei" panose="02000500000000000000"/>
            </a:endParaRPr>
          </a:p>
        </p:txBody>
      </p:sp>
      <p:sp>
        <p:nvSpPr>
          <p:cNvPr id="14341" name="object 7"/>
          <p:cNvSpPr/>
          <p:nvPr/>
        </p:nvSpPr>
        <p:spPr>
          <a:xfrm>
            <a:off x="5554663" y="2851150"/>
            <a:ext cx="5605462" cy="1149350"/>
          </a:xfrm>
          <a:prstGeom prst="rect">
            <a:avLst/>
          </a:prstGeom>
          <a:noFill/>
          <a:ln w="9525">
            <a:noFill/>
          </a:ln>
        </p:spPr>
        <p:txBody>
          <a:bodyPr wrap="square" lIns="0" tIns="0" rIns="0" bIns="0" anchor="t" anchorCtr="0"/>
          <a:p>
            <a:pPr marL="285750">
              <a:lnSpc>
                <a:spcPts val="1650"/>
              </a:lnSpc>
            </a:pPr>
            <a:r>
              <a:rPr lang="en-US" altLang="zh-HK" sz="1600">
                <a:solidFill>
                  <a:srgbClr val="595959"/>
                </a:solidFill>
                <a:latin typeface="NQUUDO+Wingdings-Regular" panose="02000500000000000000"/>
              </a:rPr>
              <a:t>Ø</a:t>
            </a:r>
            <a:r>
              <a:rPr lang="en-US" altLang="zh-HK" sz="1600">
                <a:solidFill>
                  <a:srgbClr val="595959"/>
                </a:solidFill>
                <a:latin typeface="Times New Roman" panose="02020603050405020304"/>
              </a:rPr>
              <a:t> </a:t>
            </a:r>
            <a:r>
              <a:rPr lang="zh-HK" altLang="en-US" sz="1600">
                <a:solidFill>
                  <a:srgbClr val="595959"/>
                </a:solidFill>
                <a:latin typeface="TVOCAF+MicrosoftYaHei" panose="02000500000000000000"/>
              </a:rPr>
              <a:t>业务层：主要实行系统整体的业务逻辑，完成系统</a:t>
            </a:r>
            <a:endParaRPr lang="zh-HK" altLang="en-US" sz="1600">
              <a:solidFill>
                <a:srgbClr val="595959"/>
              </a:solidFill>
              <a:latin typeface="TVOCAF+MicrosoftYaHei" panose="02000500000000000000"/>
            </a:endParaRPr>
          </a:p>
          <a:p>
            <a:pPr marL="285750">
              <a:lnSpc>
                <a:spcPts val="1650"/>
              </a:lnSpc>
              <a:spcBef>
                <a:spcPts val="825"/>
              </a:spcBef>
            </a:pPr>
            <a:r>
              <a:rPr lang="zh-HK" altLang="en-US" sz="1600">
                <a:solidFill>
                  <a:srgbClr val="595959"/>
                </a:solidFill>
                <a:latin typeface="TVOCAF+MicrosoftYaHei" panose="02000500000000000000"/>
              </a:rPr>
              <a:t>的相关功能，主要通过</a:t>
            </a:r>
            <a:r>
              <a:rPr lang="en-US" altLang="zh-HK" sz="1600">
                <a:solidFill>
                  <a:srgbClr val="595959"/>
                </a:solidFill>
                <a:latin typeface="TVOCAF+MicrosoftYaHei" panose="02000500000000000000"/>
              </a:rPr>
              <a:t>SpringBoot</a:t>
            </a:r>
            <a:r>
              <a:rPr lang="zh-HK" altLang="en-US" sz="1600">
                <a:solidFill>
                  <a:srgbClr val="595959"/>
                </a:solidFill>
                <a:latin typeface="TVOCAF+MicrosoftYaHei" panose="02000500000000000000"/>
              </a:rPr>
              <a:t>和</a:t>
            </a:r>
            <a:r>
              <a:rPr lang="en-US" altLang="zh-HK" sz="1600">
                <a:solidFill>
                  <a:srgbClr val="595959"/>
                </a:solidFill>
                <a:latin typeface="TVOCAF+MicrosoftYaHei" panose="02000500000000000000"/>
              </a:rPr>
              <a:t>Mybatis-plus</a:t>
            </a:r>
            <a:endParaRPr lang="en-US" altLang="zh-HK" sz="1600">
              <a:solidFill>
                <a:srgbClr val="595959"/>
              </a:solidFill>
              <a:latin typeface="TVOCAF+MicrosoftYaHei" panose="02000500000000000000"/>
            </a:endParaRPr>
          </a:p>
          <a:p>
            <a:pPr marL="285750">
              <a:lnSpc>
                <a:spcPts val="1650"/>
              </a:lnSpc>
              <a:spcBef>
                <a:spcPts val="825"/>
              </a:spcBef>
            </a:pPr>
            <a:r>
              <a:rPr lang="zh-HK" altLang="en-US" sz="1600">
                <a:solidFill>
                  <a:srgbClr val="595959"/>
                </a:solidFill>
                <a:latin typeface="TVOCAF+MicrosoftYaHei" panose="02000500000000000000"/>
              </a:rPr>
              <a:t>实现，部署在</a:t>
            </a:r>
            <a:r>
              <a:rPr lang="en-US" altLang="zh-HK" sz="1600">
                <a:solidFill>
                  <a:srgbClr val="595959"/>
                </a:solidFill>
                <a:latin typeface="TVOCAF+MicrosoftYaHei" panose="02000500000000000000"/>
              </a:rPr>
              <a:t>Tomcat</a:t>
            </a:r>
            <a:r>
              <a:rPr lang="zh-HK" altLang="en-US" sz="1600">
                <a:solidFill>
                  <a:srgbClr val="595959"/>
                </a:solidFill>
                <a:latin typeface="TVOCAF+MicrosoftYaHei" panose="02000500000000000000"/>
              </a:rPr>
              <a:t>上。</a:t>
            </a:r>
            <a:endParaRPr lang="zh-HK" altLang="en-US" sz="1600">
              <a:solidFill>
                <a:srgbClr val="595959"/>
              </a:solidFill>
              <a:latin typeface="TVOCAF+MicrosoftYaHei" panose="02000500000000000000"/>
            </a:endParaRPr>
          </a:p>
        </p:txBody>
      </p:sp>
      <p:sp>
        <p:nvSpPr>
          <p:cNvPr id="14342" name="object 8"/>
          <p:cNvSpPr/>
          <p:nvPr/>
        </p:nvSpPr>
        <p:spPr>
          <a:xfrm>
            <a:off x="5554663" y="3800475"/>
            <a:ext cx="5468937" cy="1149350"/>
          </a:xfrm>
          <a:prstGeom prst="rect">
            <a:avLst/>
          </a:prstGeom>
          <a:noFill/>
          <a:ln w="9525">
            <a:noFill/>
          </a:ln>
        </p:spPr>
        <p:txBody>
          <a:bodyPr wrap="square" lIns="0" tIns="0" rIns="0" bIns="0" anchor="t" anchorCtr="0"/>
          <a:p>
            <a:pPr marL="285750">
              <a:lnSpc>
                <a:spcPts val="1650"/>
              </a:lnSpc>
            </a:pPr>
            <a:r>
              <a:rPr lang="en-US" altLang="zh-HK" sz="1600">
                <a:solidFill>
                  <a:srgbClr val="595959"/>
                </a:solidFill>
                <a:latin typeface="NQUUDO+Wingdings-Regular" panose="02000500000000000000"/>
              </a:rPr>
              <a:t>Ø</a:t>
            </a:r>
            <a:r>
              <a:rPr lang="en-US" altLang="zh-HK" sz="1600">
                <a:solidFill>
                  <a:srgbClr val="595959"/>
                </a:solidFill>
                <a:latin typeface="Times New Roman" panose="02020603050405020304"/>
              </a:rPr>
              <a:t> </a:t>
            </a:r>
            <a:r>
              <a:rPr lang="zh-HK" altLang="en-US" sz="1600">
                <a:solidFill>
                  <a:srgbClr val="595959"/>
                </a:solidFill>
                <a:latin typeface="TVOCAF+MicrosoftYaHei" panose="02000500000000000000"/>
              </a:rPr>
              <a:t>数据处理层：主要结合具体的算法对来自于存储层</a:t>
            </a:r>
            <a:endParaRPr lang="zh-HK" altLang="en-US" sz="1600">
              <a:solidFill>
                <a:srgbClr val="595959"/>
              </a:solidFill>
              <a:latin typeface="TVOCAF+MicrosoftYaHei" panose="02000500000000000000"/>
            </a:endParaRPr>
          </a:p>
          <a:p>
            <a:pPr marL="285750">
              <a:lnSpc>
                <a:spcPts val="1650"/>
              </a:lnSpc>
              <a:spcBef>
                <a:spcPts val="825"/>
              </a:spcBef>
            </a:pPr>
            <a:r>
              <a:rPr lang="zh-HK" altLang="en-US" sz="1600">
                <a:solidFill>
                  <a:srgbClr val="595959"/>
                </a:solidFill>
                <a:latin typeface="TVOCAF+MicrosoftYaHei" panose="02000500000000000000"/>
              </a:rPr>
              <a:t>的相关数据进行处理，产生相应的推荐结果，并保</a:t>
            </a:r>
            <a:endParaRPr lang="zh-HK" altLang="en-US" sz="1600">
              <a:solidFill>
                <a:srgbClr val="595959"/>
              </a:solidFill>
              <a:latin typeface="TVOCAF+MicrosoftYaHei" panose="02000500000000000000"/>
            </a:endParaRPr>
          </a:p>
          <a:p>
            <a:pPr marL="285750">
              <a:lnSpc>
                <a:spcPts val="1650"/>
              </a:lnSpc>
              <a:spcBef>
                <a:spcPts val="825"/>
              </a:spcBef>
            </a:pPr>
            <a:r>
              <a:rPr lang="zh-HK" altLang="en-US" sz="1600">
                <a:solidFill>
                  <a:srgbClr val="595959"/>
                </a:solidFill>
                <a:latin typeface="TVOCAF+MicrosoftYaHei" panose="02000500000000000000"/>
              </a:rPr>
              <a:t>存到</a:t>
            </a:r>
            <a:r>
              <a:rPr lang="en-US" altLang="zh-HK" sz="1600">
                <a:solidFill>
                  <a:srgbClr val="595959"/>
                </a:solidFill>
                <a:latin typeface="TVOCAF+MicrosoftYaHei" panose="02000500000000000000"/>
              </a:rPr>
              <a:t>MySQL</a:t>
            </a:r>
            <a:r>
              <a:rPr lang="zh-HK" altLang="en-US" sz="1600">
                <a:solidFill>
                  <a:srgbClr val="595959"/>
                </a:solidFill>
                <a:latin typeface="TVOCAF+MicrosoftYaHei" panose="02000500000000000000"/>
              </a:rPr>
              <a:t>中，方便业务层的调用。</a:t>
            </a:r>
            <a:endParaRPr lang="zh-HK" altLang="en-US" sz="1600">
              <a:solidFill>
                <a:srgbClr val="595959"/>
              </a:solidFill>
              <a:latin typeface="TVOCAF+MicrosoftYaHei" panose="02000500000000000000"/>
            </a:endParaRPr>
          </a:p>
        </p:txBody>
      </p:sp>
      <p:sp>
        <p:nvSpPr>
          <p:cNvPr id="14343" name="object 9"/>
          <p:cNvSpPr/>
          <p:nvPr/>
        </p:nvSpPr>
        <p:spPr>
          <a:xfrm>
            <a:off x="5554663" y="4751388"/>
            <a:ext cx="5468937" cy="1149350"/>
          </a:xfrm>
          <a:prstGeom prst="rect">
            <a:avLst/>
          </a:prstGeom>
          <a:noFill/>
          <a:ln w="9525">
            <a:noFill/>
          </a:ln>
        </p:spPr>
        <p:txBody>
          <a:bodyPr wrap="square" lIns="0" tIns="0" rIns="0" bIns="0" anchor="t" anchorCtr="0"/>
          <a:p>
            <a:pPr marL="285750">
              <a:lnSpc>
                <a:spcPts val="2050"/>
              </a:lnSpc>
            </a:pPr>
            <a:r>
              <a:rPr lang="en-US" altLang="zh-HK" sz="1600">
                <a:solidFill>
                  <a:srgbClr val="595959"/>
                </a:solidFill>
                <a:latin typeface="NQUUDO+Wingdings-Regular" panose="02000500000000000000"/>
              </a:rPr>
              <a:t>Ø</a:t>
            </a:r>
            <a:r>
              <a:rPr lang="en-US" altLang="zh-HK" sz="1600">
                <a:solidFill>
                  <a:srgbClr val="595959"/>
                </a:solidFill>
                <a:latin typeface="Times New Roman" panose="02020603050405020304"/>
              </a:rPr>
              <a:t> </a:t>
            </a:r>
            <a:r>
              <a:rPr lang="zh-HK" altLang="en-US" sz="1600">
                <a:solidFill>
                  <a:srgbClr val="595959"/>
                </a:solidFill>
                <a:latin typeface="TVOCAF+MicrosoftYaHei" panose="02000500000000000000"/>
              </a:rPr>
              <a:t>存储层：</a:t>
            </a:r>
            <a:r>
              <a:rPr lang="zh-HK" altLang="en-US" sz="1600">
                <a:solidFill>
                  <a:srgbClr val="595959"/>
                </a:solidFill>
                <a:latin typeface="Arial" panose="020B0604020202020204" pitchFamily="34" charset="0"/>
              </a:rPr>
              <a:t>存储层主要用于存储大量的用户和音乐的实体数据、用户日志数据、用户行为统计数据、推荐业务数据等。</a:t>
            </a:r>
            <a:r>
              <a:rPr lang="en-US" altLang="zh-HK" sz="1600">
                <a:solidFill>
                  <a:srgbClr val="595959"/>
                </a:solidFill>
                <a:latin typeface="Arial" panose="020B0604020202020204" pitchFamily="34" charset="0"/>
              </a:rPr>
              <a:t>MySQL </a:t>
            </a:r>
            <a:r>
              <a:rPr lang="zh-HK" altLang="en-US" sz="1600">
                <a:solidFill>
                  <a:srgbClr val="595959"/>
                </a:solidFill>
                <a:latin typeface="Arial" panose="020B0604020202020204" pitchFamily="34" charset="0"/>
              </a:rPr>
              <a:t>作为系统的主数据库，主要存储业务层的数据；</a:t>
            </a:r>
            <a:r>
              <a:rPr lang="en-US" altLang="zh-HK" sz="1600">
                <a:solidFill>
                  <a:srgbClr val="595959"/>
                </a:solidFill>
                <a:latin typeface="Arial" panose="020B0604020202020204" pitchFamily="34" charset="0"/>
              </a:rPr>
              <a:t>Redis </a:t>
            </a:r>
            <a:r>
              <a:rPr lang="zh-HK" altLang="en-US" sz="1600">
                <a:solidFill>
                  <a:srgbClr val="595959"/>
                </a:solidFill>
                <a:latin typeface="Arial" panose="020B0604020202020204" pitchFamily="34" charset="0"/>
              </a:rPr>
              <a:t>缓存服务器用来保存用户近期的音乐评分数据，满足实时推荐的数据需求；</a:t>
            </a:r>
            <a:r>
              <a:rPr lang="en-US" altLang="zh-HK" sz="1600">
                <a:solidFill>
                  <a:srgbClr val="595959"/>
                </a:solidFill>
                <a:latin typeface="Arial" panose="020B0604020202020204" pitchFamily="34" charset="0"/>
              </a:rPr>
              <a:t>Flume </a:t>
            </a:r>
            <a:r>
              <a:rPr lang="zh-HK" altLang="en-US" sz="1600">
                <a:solidFill>
                  <a:srgbClr val="595959"/>
                </a:solidFill>
                <a:latin typeface="Arial" panose="020B0604020202020204" pitchFamily="34" charset="0"/>
              </a:rPr>
              <a:t>和</a:t>
            </a:r>
            <a:r>
              <a:rPr lang="en-US" altLang="zh-HK" sz="1600">
                <a:solidFill>
                  <a:srgbClr val="595959"/>
                </a:solidFill>
                <a:latin typeface="Arial" panose="020B0604020202020204" pitchFamily="34" charset="0"/>
              </a:rPr>
              <a:t> Kafka </a:t>
            </a:r>
            <a:r>
              <a:rPr lang="zh-HK" altLang="en-US" sz="1600">
                <a:solidFill>
                  <a:srgbClr val="595959"/>
                </a:solidFill>
                <a:latin typeface="Arial" panose="020B0604020202020204" pitchFamily="34" charset="0"/>
              </a:rPr>
              <a:t>主要实现系统日志数据的采集和推送。</a:t>
            </a:r>
            <a:endParaRPr lang="zh-HK" altLang="en-US" sz="1600">
              <a:solidFill>
                <a:srgbClr val="595959"/>
              </a:solidFill>
              <a:latin typeface="Arial" panose="020B0604020202020204" pitchFamily="34" charset="0"/>
            </a:endParaRPr>
          </a:p>
        </p:txBody>
      </p:sp>
      <p:pic>
        <p:nvPicPr>
          <p:cNvPr id="14344" name="圖片 1"/>
          <p:cNvPicPr>
            <a:picLocks noChangeAspect="1"/>
          </p:cNvPicPr>
          <p:nvPr/>
        </p:nvPicPr>
        <p:blipFill>
          <a:blip r:embed="rId1"/>
          <a:stretch>
            <a:fillRect/>
          </a:stretch>
        </p:blipFill>
        <p:spPr>
          <a:xfrm>
            <a:off x="406400" y="246063"/>
            <a:ext cx="3619500" cy="960437"/>
          </a:xfrm>
          <a:prstGeom prst="rect">
            <a:avLst/>
          </a:prstGeom>
          <a:noFill/>
          <a:ln w="9525">
            <a:noFill/>
          </a:ln>
        </p:spPr>
      </p:pic>
      <p:pic>
        <p:nvPicPr>
          <p:cNvPr id="14345" name="圖片 2"/>
          <p:cNvPicPr>
            <a:picLocks noChangeAspect="1"/>
          </p:cNvPicPr>
          <p:nvPr/>
        </p:nvPicPr>
        <p:blipFill>
          <a:blip r:embed="rId2"/>
          <a:stretch>
            <a:fillRect/>
          </a:stretch>
        </p:blipFill>
        <p:spPr>
          <a:xfrm>
            <a:off x="550863" y="1484313"/>
            <a:ext cx="4625975" cy="709612"/>
          </a:xfrm>
          <a:prstGeom prst="rect">
            <a:avLst/>
          </a:prstGeom>
          <a:noFill/>
          <a:ln w="9525">
            <a:noFill/>
          </a:ln>
        </p:spPr>
      </p:pic>
      <p:pic>
        <p:nvPicPr>
          <p:cNvPr id="14346" name="圖片 -2147482618" descr="未命名绘图"/>
          <p:cNvPicPr>
            <a:picLocks noChangeAspect="1"/>
          </p:cNvPicPr>
          <p:nvPr/>
        </p:nvPicPr>
        <p:blipFill>
          <a:blip r:embed="rId3"/>
          <a:stretch>
            <a:fillRect/>
          </a:stretch>
        </p:blipFill>
        <p:spPr>
          <a:xfrm>
            <a:off x="839788" y="2447925"/>
            <a:ext cx="3971925" cy="3973513"/>
          </a:xfrm>
          <a:prstGeom prst="rect">
            <a:avLst/>
          </a:prstGeom>
          <a:noFill/>
          <a:ln w="9525">
            <a:noFill/>
          </a:ln>
        </p:spPr>
      </p:pic>
      <p:sp>
        <p:nvSpPr>
          <p:cNvPr id="14347" name="文字框 3"/>
          <p:cNvSpPr txBox="1"/>
          <p:nvPr/>
        </p:nvSpPr>
        <p:spPr>
          <a:xfrm>
            <a:off x="822325" y="1643063"/>
            <a:ext cx="3905250" cy="368300"/>
          </a:xfrm>
          <a:prstGeom prst="rect">
            <a:avLst/>
          </a:prstGeom>
          <a:noFill/>
          <a:ln w="9525">
            <a:noFill/>
          </a:ln>
        </p:spPr>
        <p:txBody>
          <a:bodyPr wrap="square" anchor="t" anchorCtr="0">
            <a:spAutoFit/>
          </a:bodyPr>
          <a:p>
            <a:pPr algn="ctr"/>
            <a:r>
              <a:rPr lang="zh-CN" altLang="zh-HK">
                <a:solidFill>
                  <a:schemeClr val="bg1"/>
                </a:solidFill>
                <a:latin typeface="Calibri" panose="020F0502020204030204"/>
              </a:rPr>
              <a:t>个性化推荐系统架构</a:t>
            </a:r>
            <a:endParaRPr lang="zh-CN" altLang="zh-HK">
              <a:solidFill>
                <a:schemeClr val="bg1"/>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1"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15362" name="object 3"/>
          <p:cNvSpPr/>
          <p:nvPr/>
        </p:nvSpPr>
        <p:spPr>
          <a:xfrm>
            <a:off x="10272713" y="188913"/>
            <a:ext cx="1976437"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3</a:t>
            </a:r>
            <a:endParaRPr lang="en-US" altLang="zh-HK" sz="4000">
              <a:solidFill>
                <a:srgbClr val="595959"/>
              </a:solidFill>
              <a:latin typeface="LDIQCC+Impact"/>
            </a:endParaRPr>
          </a:p>
        </p:txBody>
      </p:sp>
      <p:sp>
        <p:nvSpPr>
          <p:cNvPr id="15363" name="object 4"/>
          <p:cNvSpPr/>
          <p:nvPr/>
        </p:nvSpPr>
        <p:spPr>
          <a:xfrm>
            <a:off x="5241925" y="246063"/>
            <a:ext cx="19558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研究方案</a:t>
            </a:r>
            <a:endParaRPr lang="zh-HK" altLang="en-US" sz="2800">
              <a:solidFill>
                <a:srgbClr val="535353"/>
              </a:solidFill>
              <a:latin typeface="TVOCAF+MicrosoftYaHei" panose="02000500000000000000"/>
            </a:endParaRPr>
          </a:p>
        </p:txBody>
      </p:sp>
      <p:sp>
        <p:nvSpPr>
          <p:cNvPr id="15364" name="object 5"/>
          <p:cNvSpPr/>
          <p:nvPr/>
        </p:nvSpPr>
        <p:spPr>
          <a:xfrm>
            <a:off x="1195388" y="1101725"/>
            <a:ext cx="3514725" cy="646113"/>
          </a:xfrm>
          <a:prstGeom prst="rect">
            <a:avLst/>
          </a:prstGeom>
          <a:noFill/>
          <a:ln w="9525">
            <a:noFill/>
          </a:ln>
        </p:spPr>
        <p:txBody>
          <a:bodyPr wrap="square" lIns="0" tIns="0" rIns="0" bIns="0" anchor="t" anchorCtr="0"/>
          <a:p>
            <a:pPr>
              <a:lnSpc>
                <a:spcPts val="2090"/>
              </a:lnSpc>
            </a:pPr>
            <a:r>
              <a:rPr lang="zh-CN" altLang="zh-HK" sz="2000">
                <a:solidFill>
                  <a:srgbClr val="FFFFFF"/>
                </a:solidFill>
                <a:latin typeface="TVOCAF+MicrosoftYaHei" panose="02000500000000000000"/>
              </a:rPr>
              <a:t>音乐</a:t>
            </a:r>
            <a:r>
              <a:rPr lang="zh-HK" altLang="en-US" sz="2000">
                <a:solidFill>
                  <a:srgbClr val="FFFFFF"/>
                </a:solidFill>
                <a:latin typeface="TVOCAF+MicrosoftYaHei" panose="02000500000000000000"/>
              </a:rPr>
              <a:t>个性化推荐系统技术栈</a:t>
            </a:r>
            <a:endParaRPr lang="zh-HK" altLang="en-US" sz="2000">
              <a:solidFill>
                <a:srgbClr val="FFFFFF"/>
              </a:solidFill>
              <a:latin typeface="TVOCAF+MicrosoftYaHei" panose="02000500000000000000"/>
            </a:endParaRPr>
          </a:p>
        </p:txBody>
      </p:sp>
      <p:sp>
        <p:nvSpPr>
          <p:cNvPr id="15365" name="object 6"/>
          <p:cNvSpPr/>
          <p:nvPr/>
        </p:nvSpPr>
        <p:spPr>
          <a:xfrm>
            <a:off x="1558925" y="2349500"/>
            <a:ext cx="2563813" cy="514350"/>
          </a:xfrm>
          <a:prstGeom prst="rect">
            <a:avLst/>
          </a:prstGeom>
          <a:noFill/>
          <a:ln w="9525">
            <a:noFill/>
          </a:ln>
        </p:spPr>
        <p:txBody>
          <a:bodyPr wrap="square" lIns="0" tIns="0" rIns="0" bIns="0" anchor="t" anchorCtr="0"/>
          <a:p>
            <a:pPr indent="457200">
              <a:lnSpc>
                <a:spcPts val="1650"/>
              </a:lnSpc>
            </a:pPr>
            <a:r>
              <a:rPr lang="en-US" altLang="zh-HK" sz="1600">
                <a:solidFill>
                  <a:srgbClr val="4472C4"/>
                </a:solidFill>
                <a:latin typeface="VQFMMU+MicrosoftYaHei-Bold" panose="02000500000000000000"/>
              </a:rPr>
              <a:t>React+Ant-design</a:t>
            </a:r>
            <a:endParaRPr lang="en-US" altLang="zh-HK" sz="1600">
              <a:solidFill>
                <a:srgbClr val="4472C4"/>
              </a:solidFill>
              <a:latin typeface="VQFMMU+MicrosoftYaHei-Bold" panose="02000500000000000000"/>
            </a:endParaRPr>
          </a:p>
        </p:txBody>
      </p:sp>
      <p:sp>
        <p:nvSpPr>
          <p:cNvPr id="15366" name="object 7"/>
          <p:cNvSpPr/>
          <p:nvPr/>
        </p:nvSpPr>
        <p:spPr>
          <a:xfrm>
            <a:off x="7902575" y="2241550"/>
            <a:ext cx="3048000" cy="515938"/>
          </a:xfrm>
          <a:prstGeom prst="rect">
            <a:avLst/>
          </a:prstGeom>
          <a:noFill/>
          <a:ln w="9525">
            <a:noFill/>
          </a:ln>
        </p:spPr>
        <p:txBody>
          <a:bodyPr wrap="square" lIns="0" tIns="0" rIns="0" bIns="0" anchor="t" anchorCtr="0"/>
          <a:p>
            <a:pPr>
              <a:lnSpc>
                <a:spcPts val="1650"/>
              </a:lnSpc>
            </a:pPr>
            <a:r>
              <a:rPr lang="en-US" altLang="zh-HK" sz="1600">
                <a:solidFill>
                  <a:srgbClr val="A5A5A5"/>
                </a:solidFill>
                <a:latin typeface="VQFMMU+MicrosoftYaHei-Bold" panose="02000500000000000000"/>
              </a:rPr>
              <a:t>Springboot+Mybatis-plus</a:t>
            </a:r>
            <a:endParaRPr lang="en-US" altLang="zh-HK" sz="1600">
              <a:solidFill>
                <a:srgbClr val="A5A5A5"/>
              </a:solidFill>
              <a:latin typeface="VQFMMU+MicrosoftYaHei-Bold" panose="02000500000000000000"/>
            </a:endParaRPr>
          </a:p>
        </p:txBody>
      </p:sp>
      <p:sp>
        <p:nvSpPr>
          <p:cNvPr id="15367" name="object 8"/>
          <p:cNvSpPr/>
          <p:nvPr/>
        </p:nvSpPr>
        <p:spPr>
          <a:xfrm>
            <a:off x="7902575" y="2600325"/>
            <a:ext cx="1336675" cy="452438"/>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系统后端开发</a:t>
            </a:r>
            <a:endParaRPr lang="zh-HK" altLang="en-US" sz="1400">
              <a:solidFill>
                <a:srgbClr val="595959"/>
              </a:solidFill>
              <a:latin typeface="TVOCAF+MicrosoftYaHei" panose="02000500000000000000"/>
            </a:endParaRPr>
          </a:p>
        </p:txBody>
      </p:sp>
      <p:sp>
        <p:nvSpPr>
          <p:cNvPr id="15368" name="object 9"/>
          <p:cNvSpPr/>
          <p:nvPr/>
        </p:nvSpPr>
        <p:spPr>
          <a:xfrm>
            <a:off x="2232025" y="2624138"/>
            <a:ext cx="1873250" cy="452437"/>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用于系统前端开发</a:t>
            </a:r>
            <a:endParaRPr lang="zh-HK" altLang="en-US" sz="1400">
              <a:solidFill>
                <a:srgbClr val="595959"/>
              </a:solidFill>
              <a:latin typeface="TVOCAF+MicrosoftYaHei" panose="02000500000000000000"/>
            </a:endParaRPr>
          </a:p>
        </p:txBody>
      </p:sp>
      <p:sp>
        <p:nvSpPr>
          <p:cNvPr id="15369" name="object 10"/>
          <p:cNvSpPr/>
          <p:nvPr/>
        </p:nvSpPr>
        <p:spPr>
          <a:xfrm>
            <a:off x="3074988" y="3994150"/>
            <a:ext cx="1012825" cy="787400"/>
          </a:xfrm>
          <a:prstGeom prst="rect">
            <a:avLst/>
          </a:prstGeom>
          <a:noFill/>
          <a:ln w="9525">
            <a:noFill/>
          </a:ln>
        </p:spPr>
        <p:txBody>
          <a:bodyPr wrap="square" lIns="0" tIns="0" rIns="0" bIns="0" anchor="t" anchorCtr="0"/>
          <a:p>
            <a:pPr marL="14605">
              <a:lnSpc>
                <a:spcPts val="1650"/>
              </a:lnSpc>
            </a:pPr>
            <a:r>
              <a:rPr lang="en-US" altLang="zh-HK" sz="1600">
                <a:solidFill>
                  <a:srgbClr val="FFC000"/>
                </a:solidFill>
                <a:latin typeface="VQFMMU+MicrosoftYaHei-Bold" panose="02000500000000000000"/>
              </a:rPr>
              <a:t>MySQL</a:t>
            </a:r>
            <a:endParaRPr lang="en-US" altLang="zh-HK" sz="1600">
              <a:solidFill>
                <a:srgbClr val="FFC000"/>
              </a:solidFill>
              <a:latin typeface="VQFMMU+MicrosoftYaHei-Bold" panose="02000500000000000000"/>
            </a:endParaRPr>
          </a:p>
          <a:p>
            <a:pPr marL="14605">
              <a:lnSpc>
                <a:spcPts val="1465"/>
              </a:lnSpc>
              <a:spcBef>
                <a:spcPts val="850"/>
              </a:spcBef>
            </a:pPr>
            <a:r>
              <a:rPr lang="zh-HK" altLang="en-US" sz="1400">
                <a:solidFill>
                  <a:srgbClr val="595959"/>
                </a:solidFill>
                <a:latin typeface="TVOCAF+MicrosoftYaHei" panose="02000500000000000000"/>
              </a:rPr>
              <a:t>数据库，</a:t>
            </a:r>
            <a:endParaRPr lang="zh-HK" altLang="en-US" sz="1400">
              <a:solidFill>
                <a:srgbClr val="595959"/>
              </a:solidFill>
              <a:latin typeface="TVOCAF+MicrosoftYaHei" panose="02000500000000000000"/>
            </a:endParaRPr>
          </a:p>
        </p:txBody>
      </p:sp>
      <p:sp>
        <p:nvSpPr>
          <p:cNvPr id="15370" name="object 11"/>
          <p:cNvSpPr/>
          <p:nvPr/>
        </p:nvSpPr>
        <p:spPr>
          <a:xfrm>
            <a:off x="7904163" y="3990975"/>
            <a:ext cx="1711325" cy="515938"/>
          </a:xfrm>
          <a:prstGeom prst="rect">
            <a:avLst/>
          </a:prstGeom>
          <a:noFill/>
          <a:ln w="9525">
            <a:noFill/>
          </a:ln>
        </p:spPr>
        <p:txBody>
          <a:bodyPr wrap="square" lIns="0" tIns="0" rIns="0" bIns="0" anchor="t" anchorCtr="0"/>
          <a:p>
            <a:pPr>
              <a:lnSpc>
                <a:spcPts val="1650"/>
              </a:lnSpc>
            </a:pPr>
            <a:r>
              <a:rPr lang="en-US" altLang="zh-HK" sz="1600">
                <a:solidFill>
                  <a:srgbClr val="ED7D31"/>
                </a:solidFill>
                <a:latin typeface="VQFMMU+MicrosoftYaHei-Bold" panose="02000500000000000000"/>
              </a:rPr>
              <a:t>Flume</a:t>
            </a:r>
            <a:r>
              <a:rPr lang="zh-HK" altLang="en-US" sz="1600">
                <a:solidFill>
                  <a:srgbClr val="ED7D31"/>
                </a:solidFill>
                <a:latin typeface="VQFMMU+MicrosoftYaHei-Bold" panose="02000500000000000000"/>
              </a:rPr>
              <a:t>、</a:t>
            </a:r>
            <a:r>
              <a:rPr lang="en-US" altLang="zh-HK" sz="1600">
                <a:solidFill>
                  <a:srgbClr val="ED7D31"/>
                </a:solidFill>
                <a:latin typeface="VQFMMU+MicrosoftYaHei-Bold" panose="02000500000000000000"/>
              </a:rPr>
              <a:t>Kafka</a:t>
            </a:r>
            <a:endParaRPr lang="en-US" altLang="zh-HK" sz="1600">
              <a:solidFill>
                <a:srgbClr val="ED7D31"/>
              </a:solidFill>
              <a:latin typeface="VQFMMU+MicrosoftYaHei-Bold" panose="02000500000000000000"/>
            </a:endParaRPr>
          </a:p>
        </p:txBody>
      </p:sp>
      <p:sp>
        <p:nvSpPr>
          <p:cNvPr id="15371" name="object 12"/>
          <p:cNvSpPr/>
          <p:nvPr/>
        </p:nvSpPr>
        <p:spPr>
          <a:xfrm>
            <a:off x="7904163" y="4384675"/>
            <a:ext cx="2257425" cy="708025"/>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用于系统日志数据的采集</a:t>
            </a:r>
            <a:endParaRPr lang="zh-HK" altLang="en-US" sz="1400">
              <a:solidFill>
                <a:srgbClr val="595959"/>
              </a:solidFill>
              <a:latin typeface="TVOCAF+MicrosoftYaHei" panose="02000500000000000000"/>
            </a:endParaRPr>
          </a:p>
          <a:p>
            <a:pPr>
              <a:lnSpc>
                <a:spcPts val="1465"/>
              </a:lnSpc>
              <a:spcBef>
                <a:spcPts val="550"/>
              </a:spcBef>
            </a:pPr>
            <a:r>
              <a:rPr lang="zh-HK" altLang="en-US" sz="1400">
                <a:solidFill>
                  <a:srgbClr val="595959"/>
                </a:solidFill>
                <a:latin typeface="TVOCAF+MicrosoftYaHei" panose="02000500000000000000"/>
              </a:rPr>
              <a:t>和推送</a:t>
            </a:r>
            <a:endParaRPr lang="zh-HK" altLang="en-US" sz="1400">
              <a:solidFill>
                <a:srgbClr val="595959"/>
              </a:solidFill>
              <a:latin typeface="TVOCAF+MicrosoftYaHei" panose="02000500000000000000"/>
            </a:endParaRPr>
          </a:p>
        </p:txBody>
      </p:sp>
      <p:sp>
        <p:nvSpPr>
          <p:cNvPr id="15372" name="object 13"/>
          <p:cNvSpPr/>
          <p:nvPr/>
        </p:nvSpPr>
        <p:spPr>
          <a:xfrm>
            <a:off x="2555875" y="4598988"/>
            <a:ext cx="1516063" cy="452437"/>
          </a:xfrm>
          <a:prstGeom prst="rect">
            <a:avLst/>
          </a:prstGeom>
          <a:noFill/>
          <a:ln w="9525">
            <a:noFill/>
          </a:ln>
        </p:spPr>
        <p:txBody>
          <a:bodyPr wrap="square" lIns="0" tIns="0" rIns="0" bIns="0" anchor="t" anchorCtr="0"/>
          <a:p>
            <a:pPr>
              <a:lnSpc>
                <a:spcPts val="1465"/>
              </a:lnSpc>
            </a:pPr>
            <a:r>
              <a:rPr lang="zh-HK" altLang="en-US" sz="1400">
                <a:solidFill>
                  <a:srgbClr val="595959"/>
                </a:solidFill>
                <a:latin typeface="TVOCAF+MicrosoftYaHei" panose="02000500000000000000"/>
              </a:rPr>
              <a:t>存储结构化数据</a:t>
            </a:r>
            <a:endParaRPr lang="zh-HK" altLang="en-US" sz="1400">
              <a:solidFill>
                <a:srgbClr val="595959"/>
              </a:solidFill>
              <a:latin typeface="TVOCAF+MicrosoftYaHei" panose="020005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5"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16386" name="object 3"/>
          <p:cNvSpPr/>
          <p:nvPr/>
        </p:nvSpPr>
        <p:spPr>
          <a:xfrm>
            <a:off x="4862513" y="2722563"/>
            <a:ext cx="4197350" cy="1936750"/>
          </a:xfrm>
          <a:prstGeom prst="rect">
            <a:avLst/>
          </a:prstGeom>
          <a:noFill/>
          <a:ln w="9525">
            <a:noFill/>
          </a:ln>
        </p:spPr>
        <p:txBody>
          <a:bodyPr wrap="square" lIns="0" tIns="0" rIns="0" bIns="0" anchor="t" anchorCtr="0"/>
          <a:p>
            <a:pPr>
              <a:lnSpc>
                <a:spcPts val="6250"/>
              </a:lnSpc>
            </a:pPr>
            <a:r>
              <a:rPr lang="en-US" altLang="zh-HK" sz="6000">
                <a:solidFill>
                  <a:srgbClr val="595959"/>
                </a:solidFill>
                <a:latin typeface="LDIQCC+Impact"/>
              </a:rPr>
              <a:t>PART 04</a:t>
            </a:r>
            <a:endParaRPr lang="en-US" altLang="zh-HK" sz="6000">
              <a:solidFill>
                <a:srgbClr val="595959"/>
              </a:solidFill>
              <a:latin typeface="LDIQCC+Impact"/>
            </a:endParaRPr>
          </a:p>
        </p:txBody>
      </p:sp>
      <p:sp>
        <p:nvSpPr>
          <p:cNvPr id="16387" name="object 4"/>
          <p:cNvSpPr/>
          <p:nvPr/>
        </p:nvSpPr>
        <p:spPr>
          <a:xfrm>
            <a:off x="4762500" y="3781425"/>
            <a:ext cx="3238500" cy="1033463"/>
          </a:xfrm>
          <a:prstGeom prst="rect">
            <a:avLst/>
          </a:prstGeom>
          <a:noFill/>
          <a:ln w="9525">
            <a:noFill/>
          </a:ln>
        </p:spPr>
        <p:txBody>
          <a:bodyPr wrap="square" lIns="0" tIns="0" rIns="0" bIns="0" anchor="t" anchorCtr="0"/>
          <a:p>
            <a:pPr>
              <a:lnSpc>
                <a:spcPts val="3340"/>
              </a:lnSpc>
            </a:pPr>
            <a:r>
              <a:rPr lang="zh-HK" altLang="en-US" sz="3200">
                <a:solidFill>
                  <a:srgbClr val="595959"/>
                </a:solidFill>
                <a:latin typeface="VQFMMU+MicrosoftYaHei-Bold" panose="02000500000000000000"/>
              </a:rPr>
              <a:t>特色和创新点</a:t>
            </a:r>
            <a:endParaRPr lang="zh-HK" altLang="en-US" sz="3200">
              <a:solidFill>
                <a:srgbClr val="595959"/>
              </a:solidFill>
              <a:latin typeface="VQFMMU+MicrosoftYaHei-Bold" panose="020005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09"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en-US" altLang="ru-RU">
              <a:latin typeface="Calibri" panose="020F0502020204030204"/>
            </a:endParaRPr>
          </a:p>
        </p:txBody>
      </p:sp>
      <p:sp>
        <p:nvSpPr>
          <p:cNvPr id="17410" name="object 3"/>
          <p:cNvSpPr/>
          <p:nvPr/>
        </p:nvSpPr>
        <p:spPr>
          <a:xfrm>
            <a:off x="10128250" y="115888"/>
            <a:ext cx="1981200" cy="1290637"/>
          </a:xfrm>
          <a:prstGeom prst="rect">
            <a:avLst/>
          </a:prstGeom>
          <a:noFill/>
          <a:ln w="9525">
            <a:noFill/>
          </a:ln>
        </p:spPr>
        <p:txBody>
          <a:bodyPr wrap="square" lIns="0" tIns="0" rIns="0" bIns="0" anchor="t" anchorCtr="0"/>
          <a:p>
            <a:pPr>
              <a:lnSpc>
                <a:spcPts val="4150"/>
              </a:lnSpc>
            </a:pPr>
            <a:r>
              <a:rPr lang="en-US" altLang="zh-HK" sz="4000">
                <a:solidFill>
                  <a:srgbClr val="595959"/>
                </a:solidFill>
                <a:latin typeface="LDIQCC+Impact"/>
              </a:rPr>
              <a:t>Part 4</a:t>
            </a:r>
            <a:endParaRPr lang="en-US" altLang="zh-HK" sz="4000">
              <a:solidFill>
                <a:srgbClr val="595959"/>
              </a:solidFill>
              <a:latin typeface="LDIQCC+Impact"/>
            </a:endParaRPr>
          </a:p>
        </p:txBody>
      </p:sp>
      <p:sp>
        <p:nvSpPr>
          <p:cNvPr id="17411" name="object 4"/>
          <p:cNvSpPr/>
          <p:nvPr/>
        </p:nvSpPr>
        <p:spPr>
          <a:xfrm>
            <a:off x="4886325" y="246063"/>
            <a:ext cx="2667000" cy="903287"/>
          </a:xfrm>
          <a:prstGeom prst="rect">
            <a:avLst/>
          </a:prstGeom>
          <a:noFill/>
          <a:ln w="9525">
            <a:noFill/>
          </a:ln>
        </p:spPr>
        <p:txBody>
          <a:bodyPr wrap="square" lIns="0" tIns="0" rIns="0" bIns="0" anchor="t" anchorCtr="0"/>
          <a:p>
            <a:pPr>
              <a:lnSpc>
                <a:spcPts val="2900"/>
              </a:lnSpc>
            </a:pPr>
            <a:r>
              <a:rPr lang="zh-HK" altLang="en-US" sz="2800">
                <a:solidFill>
                  <a:srgbClr val="535353"/>
                </a:solidFill>
                <a:latin typeface="TVOCAF+MicrosoftYaHei" panose="02000500000000000000"/>
              </a:rPr>
              <a:t>特色和创新点</a:t>
            </a:r>
            <a:endParaRPr lang="zh-HK" altLang="en-US" sz="2800">
              <a:solidFill>
                <a:srgbClr val="535353"/>
              </a:solidFill>
              <a:latin typeface="TVOCAF+MicrosoftYaHei" panose="02000500000000000000"/>
            </a:endParaRPr>
          </a:p>
        </p:txBody>
      </p:sp>
      <p:sp>
        <p:nvSpPr>
          <p:cNvPr id="17412" name="object 5"/>
          <p:cNvSpPr/>
          <p:nvPr/>
        </p:nvSpPr>
        <p:spPr>
          <a:xfrm>
            <a:off x="3570288" y="1890713"/>
            <a:ext cx="6472237" cy="692150"/>
          </a:xfrm>
          <a:prstGeom prst="rect">
            <a:avLst/>
          </a:prstGeom>
          <a:noFill/>
          <a:ln w="9525">
            <a:noFill/>
          </a:ln>
        </p:spPr>
        <p:txBody>
          <a:bodyPr wrap="square" lIns="0" tIns="0" rIns="0" bIns="0" anchor="t" anchorCtr="0"/>
          <a:p>
            <a:pPr>
              <a:lnSpc>
                <a:spcPts val="2215"/>
              </a:lnSpc>
            </a:pPr>
            <a:r>
              <a:rPr lang="zh-HK" altLang="en-US" sz="2100">
                <a:solidFill>
                  <a:srgbClr val="FFFFFF"/>
                </a:solidFill>
                <a:latin typeface="TVOCAF+MicrosoftYaHei" panose="02000500000000000000"/>
              </a:rPr>
              <a:t>基于</a:t>
            </a:r>
            <a:r>
              <a:rPr lang="zh-CN" altLang="zh-HK" sz="2100">
                <a:solidFill>
                  <a:srgbClr val="FFFFFF"/>
                </a:solidFill>
                <a:latin typeface="TVOCAF+MicrosoftYaHei" panose="02000500000000000000"/>
              </a:rPr>
              <a:t>知识图谱与联邦推荐</a:t>
            </a:r>
            <a:r>
              <a:rPr lang="zh-HK" altLang="en-US" sz="2100">
                <a:solidFill>
                  <a:srgbClr val="FFFFFF"/>
                </a:solidFill>
                <a:latin typeface="TVOCAF+MicrosoftYaHei" panose="02000500000000000000"/>
              </a:rPr>
              <a:t>的推荐模型</a:t>
            </a:r>
            <a:endParaRPr lang="zh-HK" altLang="en-US" sz="2100">
              <a:solidFill>
                <a:srgbClr val="FFFFFF"/>
              </a:solidFill>
              <a:latin typeface="TVOCAF+MicrosoftYaHei" panose="02000500000000000000"/>
            </a:endParaRPr>
          </a:p>
        </p:txBody>
      </p:sp>
      <p:sp>
        <p:nvSpPr>
          <p:cNvPr id="17413" name="object 6"/>
          <p:cNvSpPr/>
          <p:nvPr/>
        </p:nvSpPr>
        <p:spPr>
          <a:xfrm>
            <a:off x="2198688" y="2308225"/>
            <a:ext cx="923925" cy="3176588"/>
          </a:xfrm>
          <a:prstGeom prst="rect">
            <a:avLst/>
          </a:prstGeom>
          <a:noFill/>
          <a:ln w="9525">
            <a:noFill/>
          </a:ln>
        </p:spPr>
        <p:txBody>
          <a:bodyPr wrap="square" lIns="0" tIns="0" rIns="0" bIns="0" anchor="t" anchorCtr="0"/>
          <a:p>
            <a:pPr>
              <a:lnSpc>
                <a:spcPts val="2775"/>
              </a:lnSpc>
            </a:pPr>
            <a:r>
              <a:rPr lang="en-US" altLang="zh-HK" sz="2600">
                <a:solidFill>
                  <a:srgbClr val="FFFFFF"/>
                </a:solidFill>
                <a:latin typeface="VQFMMU+MicrosoftYaHei-Bold" panose="02000500000000000000"/>
              </a:rPr>
              <a:t>01</a:t>
            </a:r>
            <a:endParaRPr lang="en-US" altLang="zh-HK" sz="2600">
              <a:solidFill>
                <a:srgbClr val="FFFFFF"/>
              </a:solidFill>
              <a:latin typeface="VQFMMU+MicrosoftYaHei-Bold" panose="02000500000000000000"/>
            </a:endParaRPr>
          </a:p>
          <a:p>
            <a:pPr>
              <a:lnSpc>
                <a:spcPts val="2775"/>
              </a:lnSpc>
              <a:spcBef>
                <a:spcPts val="15465"/>
              </a:spcBef>
            </a:pPr>
            <a:r>
              <a:rPr lang="en-US" altLang="zh-HK" sz="2600">
                <a:solidFill>
                  <a:srgbClr val="FFFFFF"/>
                </a:solidFill>
                <a:latin typeface="VQFMMU+MicrosoftYaHei-Bold" panose="02000500000000000000"/>
              </a:rPr>
              <a:t>02</a:t>
            </a:r>
            <a:endParaRPr lang="en-US" altLang="zh-HK" sz="2600">
              <a:solidFill>
                <a:srgbClr val="FFFFFF"/>
              </a:solidFill>
              <a:latin typeface="VQFMMU+MicrosoftYaHei-Bold" panose="02000500000000000000"/>
            </a:endParaRPr>
          </a:p>
        </p:txBody>
      </p:sp>
      <p:sp>
        <p:nvSpPr>
          <p:cNvPr id="17414" name="object 7"/>
          <p:cNvSpPr/>
          <p:nvPr/>
        </p:nvSpPr>
        <p:spPr>
          <a:xfrm>
            <a:off x="3540125" y="2492375"/>
            <a:ext cx="6715125" cy="517525"/>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针对推荐系统存在的</a:t>
            </a:r>
            <a:r>
              <a:rPr lang="zh-CN" altLang="zh-HK" sz="1600">
                <a:solidFill>
                  <a:srgbClr val="595959"/>
                </a:solidFill>
                <a:latin typeface="TVOCAF+MicrosoftYaHei" panose="02000500000000000000"/>
              </a:rPr>
              <a:t>隐私保护与推荐性能</a:t>
            </a:r>
            <a:r>
              <a:rPr lang="zh-HK" altLang="en-US" sz="1600">
                <a:solidFill>
                  <a:srgbClr val="595959"/>
                </a:solidFill>
                <a:latin typeface="TVOCAF+MicrosoftYaHei" panose="02000500000000000000"/>
              </a:rPr>
              <a:t>问题。本研究设计</a:t>
            </a:r>
            <a:r>
              <a:rPr lang="zh-CN" altLang="zh-HK" sz="1600">
                <a:solidFill>
                  <a:srgbClr val="595959"/>
                </a:solidFill>
                <a:latin typeface="TVOCAF+MicrosoftYaHei" panose="02000500000000000000"/>
              </a:rPr>
              <a:t>了</a:t>
            </a:r>
            <a:r>
              <a:rPr lang="zh-HK" altLang="en-US" sz="1600">
                <a:solidFill>
                  <a:srgbClr val="595959"/>
                </a:solidFill>
                <a:latin typeface="TVOCAF+MicrosoftYaHei" panose="02000500000000000000"/>
              </a:rPr>
              <a:t>一种基于知识图谱注意力网络和联邦学习的个性化推荐优化算法。通过对</a:t>
            </a:r>
            <a:r>
              <a:rPr lang="en-US" altLang="zh-HK" sz="1600">
                <a:solidFill>
                  <a:srgbClr val="595959"/>
                </a:solidFill>
                <a:latin typeface="TVOCAF+MicrosoftYaHei" panose="02000500000000000000"/>
              </a:rPr>
              <a:t>KGAT</a:t>
            </a:r>
            <a:r>
              <a:rPr lang="zh-HK" altLang="en-US" sz="1600">
                <a:solidFill>
                  <a:srgbClr val="595959"/>
                </a:solidFill>
                <a:latin typeface="TVOCAF+MicrosoftYaHei" panose="02000500000000000000"/>
              </a:rPr>
              <a:t>算法嵌入学习方法与注意力机制的优化，为用户提供更精准、更个性化的推荐服务，通过与联邦学习结合来确保用户隐私</a:t>
            </a:r>
            <a:r>
              <a:rPr lang="zh-CN" altLang="zh-HK" sz="1600">
                <a:solidFill>
                  <a:srgbClr val="595959"/>
                </a:solidFill>
                <a:latin typeface="TVOCAF+MicrosoftYaHei" panose="02000500000000000000"/>
                <a:ea typeface="宋体" panose="02010600030101010101" pitchFamily="2" charset="-122"/>
              </a:rPr>
              <a:t>。</a:t>
            </a:r>
            <a:endParaRPr lang="zh-CN" altLang="zh-HK" sz="1600">
              <a:solidFill>
                <a:srgbClr val="595959"/>
              </a:solidFill>
              <a:latin typeface="TVOCAF+MicrosoftYaHei" panose="02000500000000000000"/>
              <a:ea typeface="宋体" panose="02010600030101010101" pitchFamily="2" charset="-122"/>
            </a:endParaRPr>
          </a:p>
        </p:txBody>
      </p:sp>
      <p:sp>
        <p:nvSpPr>
          <p:cNvPr id="17415" name="object 9"/>
          <p:cNvSpPr/>
          <p:nvPr/>
        </p:nvSpPr>
        <p:spPr>
          <a:xfrm>
            <a:off x="3560763" y="4167188"/>
            <a:ext cx="5840412" cy="692150"/>
          </a:xfrm>
          <a:prstGeom prst="rect">
            <a:avLst/>
          </a:prstGeom>
          <a:noFill/>
          <a:ln w="9525">
            <a:noFill/>
          </a:ln>
        </p:spPr>
        <p:txBody>
          <a:bodyPr wrap="square" lIns="0" tIns="0" rIns="0" bIns="0" anchor="t" anchorCtr="0"/>
          <a:p>
            <a:pPr>
              <a:lnSpc>
                <a:spcPts val="2215"/>
              </a:lnSpc>
            </a:pPr>
            <a:r>
              <a:rPr lang="zh-HK" altLang="en-US" sz="2100">
                <a:solidFill>
                  <a:srgbClr val="F8F8F8"/>
                </a:solidFill>
                <a:latin typeface="TVOCAF+MicrosoftYaHei" panose="02000500000000000000"/>
              </a:rPr>
              <a:t>基于</a:t>
            </a:r>
            <a:r>
              <a:rPr lang="zh-CN" altLang="zh-HK" sz="2100">
                <a:solidFill>
                  <a:srgbClr val="F8F8F8"/>
                </a:solidFill>
                <a:latin typeface="TVOCAF+MicrosoftYaHei" panose="02000500000000000000"/>
              </a:rPr>
              <a:t>动态量化与自适应剪枝的通信优化</a:t>
            </a:r>
            <a:endParaRPr lang="zh-CN" altLang="zh-HK" sz="2100">
              <a:solidFill>
                <a:srgbClr val="F8F8F8"/>
              </a:solidFill>
              <a:latin typeface="TVOCAF+MicrosoftYaHei" panose="02000500000000000000"/>
            </a:endParaRPr>
          </a:p>
        </p:txBody>
      </p:sp>
      <p:sp>
        <p:nvSpPr>
          <p:cNvPr id="17416" name="object 10"/>
          <p:cNvSpPr/>
          <p:nvPr/>
        </p:nvSpPr>
        <p:spPr>
          <a:xfrm>
            <a:off x="3540125" y="4859338"/>
            <a:ext cx="6784975" cy="515937"/>
          </a:xfrm>
          <a:prstGeom prst="rect">
            <a:avLst/>
          </a:prstGeom>
          <a:noFill/>
          <a:ln w="9525">
            <a:noFill/>
          </a:ln>
        </p:spPr>
        <p:txBody>
          <a:bodyPr wrap="square" lIns="0" tIns="0" rIns="0" bIns="0" anchor="t" anchorCtr="0"/>
          <a:p>
            <a:pPr>
              <a:lnSpc>
                <a:spcPts val="1650"/>
              </a:lnSpc>
            </a:pPr>
            <a:r>
              <a:rPr lang="zh-HK" altLang="en-US" sz="1600">
                <a:solidFill>
                  <a:srgbClr val="595959"/>
                </a:solidFill>
                <a:latin typeface="TVOCAF+MicrosoftYaHei" panose="02000500000000000000"/>
              </a:rPr>
              <a:t>针对</a:t>
            </a:r>
            <a:r>
              <a:rPr lang="zh-CN" altLang="zh-HK" sz="1600">
                <a:solidFill>
                  <a:srgbClr val="595959"/>
                </a:solidFill>
                <a:latin typeface="TVOCAF+MicrosoftYaHei" panose="02000500000000000000"/>
              </a:rPr>
              <a:t>联邦</a:t>
            </a:r>
            <a:r>
              <a:rPr lang="zh-HK" altLang="en-US" sz="1600">
                <a:solidFill>
                  <a:srgbClr val="595959"/>
                </a:solidFill>
                <a:latin typeface="TVOCAF+MicrosoftYaHei" panose="02000500000000000000"/>
              </a:rPr>
              <a:t>推荐系统存在的</a:t>
            </a:r>
            <a:r>
              <a:rPr lang="zh-CN" altLang="zh-HK" sz="1600">
                <a:solidFill>
                  <a:srgbClr val="595959"/>
                </a:solidFill>
                <a:latin typeface="TVOCAF+MicrosoftYaHei" panose="02000500000000000000"/>
              </a:rPr>
              <a:t>通信成本开销大的问题</a:t>
            </a:r>
            <a:r>
              <a:rPr lang="zh-HK" altLang="en-US" sz="1600">
                <a:solidFill>
                  <a:srgbClr val="595959"/>
                </a:solidFill>
                <a:latin typeface="TVOCAF+MicrosoftYaHei" panose="02000500000000000000"/>
              </a:rPr>
              <a:t>，本研究提出一种基于动态量化与自适应剪枝的联邦</a:t>
            </a:r>
            <a:r>
              <a:rPr lang="zh-CN" altLang="zh-HK" sz="1600">
                <a:solidFill>
                  <a:srgbClr val="595959"/>
                </a:solidFill>
                <a:latin typeface="TVOCAF+MicrosoftYaHei" panose="02000500000000000000"/>
              </a:rPr>
              <a:t>通信成本</a:t>
            </a:r>
            <a:r>
              <a:rPr lang="zh-HK" altLang="en-US" sz="1600">
                <a:solidFill>
                  <a:srgbClr val="595959"/>
                </a:solidFill>
                <a:latin typeface="TVOCAF+MicrosoftYaHei" panose="02000500000000000000"/>
              </a:rPr>
              <a:t>优化方法。通</a:t>
            </a:r>
            <a:r>
              <a:rPr lang="zh-CN" altLang="zh-HK" sz="1600">
                <a:solidFill>
                  <a:srgbClr val="595959"/>
                </a:solidFill>
                <a:latin typeface="TVOCAF+MicrosoftYaHei" panose="02000500000000000000"/>
              </a:rPr>
              <a:t>过剔除不重要的参数与降低模型精度来降低通信开销。</a:t>
            </a:r>
            <a:endParaRPr lang="zh-CN" altLang="zh-HK" sz="1600">
              <a:solidFill>
                <a:srgbClr val="595959"/>
              </a:solidFill>
              <a:latin typeface="TVOCAF+MicrosoftYaHei" panose="02000500000000000000"/>
            </a:endParaRPr>
          </a:p>
        </p:txBody>
      </p:sp>
      <p:sp>
        <p:nvSpPr>
          <p:cNvPr id="17417" name="object 11"/>
          <p:cNvSpPr/>
          <p:nvPr/>
        </p:nvSpPr>
        <p:spPr>
          <a:xfrm>
            <a:off x="3560763" y="5157788"/>
            <a:ext cx="7572375" cy="833437"/>
          </a:xfrm>
          <a:prstGeom prst="rect">
            <a:avLst/>
          </a:prstGeom>
          <a:noFill/>
          <a:ln w="9525">
            <a:noFill/>
          </a:ln>
        </p:spPr>
        <p:txBody>
          <a:bodyPr wrap="square" lIns="0" tIns="0" rIns="0" bIns="0" anchor="t" anchorCtr="0"/>
          <a:p>
            <a:pPr>
              <a:lnSpc>
                <a:spcPts val="1650"/>
              </a:lnSpc>
            </a:pPr>
            <a:endParaRPr lang="zh-HK" altLang="en-US" sz="1600">
              <a:solidFill>
                <a:srgbClr val="595959"/>
              </a:solidFill>
              <a:latin typeface="TVOCAF+MicrosoftYaHei" panose="0200050000000000000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457" name="object 1"/>
          <p:cNvSpPr/>
          <p:nvPr/>
        </p:nvSpPr>
        <p:spPr>
          <a:xfrm>
            <a:off x="0" y="0"/>
            <a:ext cx="12192000" cy="6858000"/>
          </a:xfrm>
          <a:prstGeom prst="rect">
            <a:avLst/>
          </a:prstGeom>
          <a:blipFill rotWithShape="0">
            <a:blip r:embed="rId1"/>
            <a:stretch>
              <a:fillRect/>
            </a:stretch>
          </a:blipFill>
          <a:ln w="9525">
            <a:noFill/>
          </a:ln>
        </p:spPr>
        <p:txBody>
          <a:bodyPr wrap="square" lIns="0" tIns="0" rIns="0" bIns="0" anchor="t" anchorCtr="0"/>
          <a:p>
            <a:endParaRPr lang="ru-RU" altLang="zh-HK">
              <a:latin typeface="Calibri" panose="020F0502020204030204"/>
            </a:endParaRPr>
          </a:p>
        </p:txBody>
      </p:sp>
      <p:sp>
        <p:nvSpPr>
          <p:cNvPr id="19458" name="object 3"/>
          <p:cNvSpPr/>
          <p:nvPr/>
        </p:nvSpPr>
        <p:spPr>
          <a:xfrm>
            <a:off x="3473450" y="2701925"/>
            <a:ext cx="6253163" cy="2381250"/>
          </a:xfrm>
          <a:prstGeom prst="rect">
            <a:avLst/>
          </a:prstGeom>
          <a:noFill/>
          <a:ln w="9525">
            <a:noFill/>
          </a:ln>
        </p:spPr>
        <p:txBody>
          <a:bodyPr wrap="square" lIns="0" tIns="0" rIns="0" bIns="0" anchor="t" anchorCtr="0"/>
          <a:p>
            <a:pPr marL="40005">
              <a:lnSpc>
                <a:spcPts val="6875"/>
              </a:lnSpc>
            </a:pPr>
            <a:r>
              <a:rPr lang="en-US" altLang="zh-HK" sz="6600">
                <a:solidFill>
                  <a:srgbClr val="404040"/>
                </a:solidFill>
                <a:latin typeface="VQFMMU+MicrosoftYaHei-Bold" panose="02000500000000000000"/>
              </a:rPr>
              <a:t>THANK YOU</a:t>
            </a:r>
            <a:endParaRPr lang="en-US" altLang="zh-HK" sz="6600">
              <a:solidFill>
                <a:srgbClr val="404040"/>
              </a:solidFill>
              <a:latin typeface="VQFMMU+MicrosoftYaHei-Bold" panose="02000500000000000000"/>
            </a:endParaRPr>
          </a:p>
          <a:p>
            <a:pPr marL="40005">
              <a:lnSpc>
                <a:spcPts val="4150"/>
              </a:lnSpc>
              <a:spcBef>
                <a:spcPts val="290"/>
              </a:spcBef>
            </a:pPr>
            <a:r>
              <a:rPr lang="zh-HK" altLang="en-US" sz="4000">
                <a:solidFill>
                  <a:srgbClr val="404040"/>
                </a:solidFill>
                <a:latin typeface="TVOCAF+MicrosoftYaHei" panose="02000500000000000000"/>
              </a:rPr>
              <a:t>感谢各位老师批评指正</a:t>
            </a:r>
            <a:endParaRPr lang="zh-HK" altLang="en-US" sz="4000">
              <a:solidFill>
                <a:srgbClr val="404040"/>
              </a:solidFill>
              <a:latin typeface="TVOCAF+MicrosoftYaHei" panose="02000500000000000000"/>
            </a:endParaRPr>
          </a:p>
        </p:txBody>
      </p:sp>
    </p:spTree>
  </p:cSld>
  <p:clrMapOvr>
    <a:masterClrMapping/>
  </p:clrMapOvr>
</p:sld>
</file>

<file path=ppt/tags/tag1.xml><?xml version="1.0" encoding="utf-8"?>
<p:tagLst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Arial"/>
        <a:ea typeface=""/>
        <a:cs typeface=""/>
      </a:majorFont>
      <a:minorFont>
        <a:latin typeface="Calibri"/>
        <a:ea typeface="Arial"/>
        <a:cs typeface=""/>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3553</Words>
  <Application>WPS Presentation</Application>
  <PresentationFormat>Экран</PresentationFormat>
  <Paragraphs>311</Paragraphs>
  <Slides>18</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18</vt:i4>
      </vt:variant>
    </vt:vector>
  </HeadingPairs>
  <TitlesOfParts>
    <vt:vector size="39" baseType="lpstr">
      <vt:lpstr>Arial</vt:lpstr>
      <vt:lpstr>宋体</vt:lpstr>
      <vt:lpstr>Wingdings</vt:lpstr>
      <vt:lpstr>Calibri</vt:lpstr>
      <vt:lpstr>Arial</vt:lpstr>
      <vt:lpstr>VQFMMU+MicrosoftYaHei-Bold</vt:lpstr>
      <vt:lpstr>TVOCAF+MicrosoftYaHei</vt:lpstr>
      <vt:lpstr>LDIQCC+Impact</vt:lpstr>
      <vt:lpstr>Segoe Print</vt:lpstr>
      <vt:lpstr>PDDLES+ArialMT</vt:lpstr>
      <vt:lpstr>NQUUDO+Wingdings-Regular</vt:lpstr>
      <vt:lpstr>Times New Roman</vt:lpstr>
      <vt:lpstr>微软雅黑</vt:lpstr>
      <vt:lpstr>Arial Unicode MS</vt:lpstr>
      <vt:lpstr>PMingLiU</vt:lpstr>
      <vt:lpstr>VQFMMU+MicrosoftYaHei-Bold</vt:lpstr>
      <vt:lpstr>华文宋体</vt:lpstr>
      <vt:lpstr>楷体</vt:lpstr>
      <vt:lpstr>PMingLiU</vt:lpstr>
      <vt:lpstr>PMingLiU</vt:lpstr>
      <vt:lpstr>Theme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s2.aconvert.com</dc:creator>
  <cp:lastModifiedBy>89210</cp:lastModifiedBy>
  <cp:revision>11</cp:revision>
  <dcterms:created xsi:type="dcterms:W3CDTF">2025-05-05T09:10:05Z</dcterms:created>
  <dcterms:modified xsi:type="dcterms:W3CDTF">2025-11-21T04:46:08Z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10561A827DE4425097A39578935C4CD8_13</vt:lpwstr>
  </property>
  <property fmtid="{D5CDD505-2E9C-101B-9397-08002B2CF9AE}" pid="3" name="KSOProductBuildVer">
    <vt:lpwstr>3076-12.2.0.23155</vt:lpwstr>
  </property>
</Properties>
</file>